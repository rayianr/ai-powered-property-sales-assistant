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business outcome: one connected workspace that combines CRM operations, automation, Agentforce, and analytics.</a:t>
            </a:r>
          </a:p>
          <a:p>
            <a:endParaRPr/>
          </a:p>
          <a:p>
            <a:r>
              <a:t>[Sources]</a:t>
            </a:r>
          </a:p>
          <a:p>
            <a:r>
              <a:t>- User-supplied Salesforce project screenshot and project metadata.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the three manual tasks to the buyer experience: every delay happens before the highest-value agent work begins.</a:t>
            </a:r>
          </a:p>
          <a:p>
            <a:endParaRPr/>
          </a:p>
          <a:p>
            <a:r>
              <a:t>[Sources]</a:t>
            </a:r>
          </a:p>
          <a:p>
            <a:r>
              <a:t>- User-supplied project problem statement.</a:t>
            </a:r>
          </a:p>
          <a:p>
            <a:r>
              <a:t>- User-supplied Salesforce Leads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Clarify that the scope is deliberate: the project solves pre-sale real estate operations and does not claim end-to-end property lifecycle coverage.</a:t>
            </a:r>
          </a:p>
          <a:p>
            <a:endParaRPr/>
          </a:p>
          <a:p>
            <a:r>
              <a:t>[Sources]</a:t>
            </a:r>
          </a:p>
          <a:p>
            <a:r>
              <a:t>- User-supplied objectives and scope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top to bottom: Lightning is the user experience, Agentforce classifies intent, governed actions invoke Flows, and Salesforce records remain the system of record.</a:t>
            </a:r>
          </a:p>
          <a:p>
            <a:endParaRPr/>
          </a:p>
          <a:p>
            <a:r>
              <a:t>[Sources]</a:t>
            </a:r>
          </a:p>
          <a:p>
            <a:r>
              <a:t>- User-supplied project architecture derived from implemented Salesforce and Agentforce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Emphasize that Showing is the operational junction between Lead, Property, and User or Agent. Offer and Task extend the sales process without duplicating core data.</a:t>
            </a:r>
          </a:p>
          <a:p>
            <a:endParaRPr/>
          </a:p>
          <a:p>
            <a:r>
              <a:t>[Sources]</a:t>
            </a:r>
          </a:p>
          <a:p>
            <a:r>
              <a:t>- User-supplied Salesforce Schema Builder evidence and simplified logical data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that the console is not a standalone AI demo: it is a usable Salesforce application with navigation, records, dashboards, and responsive pages.</a:t>
            </a:r>
          </a:p>
          <a:p>
            <a:endParaRPr/>
          </a:p>
          <a:p>
            <a:r>
              <a:t>[Sources]</a:t>
            </a:r>
          </a:p>
          <a:p>
            <a:r>
              <a:t>- User-supplied Real Estate Agent Console screenshot.</a:t>
            </a:r>
          </a:p>
          <a:p>
            <a:r>
              <a:t>- User-supplied Lightning App Builder desktop and mobile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Agent Router selects the correct subagent. Each topic has a narrow responsibility, reducing unsupported behavior and keeping actions auditable.</a:t>
            </a:r>
          </a:p>
          <a:p>
            <a:endParaRPr/>
          </a:p>
          <a:p>
            <a:r>
              <a:t>[Sources]</a:t>
            </a:r>
          </a:p>
          <a:p>
            <a:r>
              <a:t>- User-supplied active Property Sales Assistant configuration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Point out that the flows are active Autolaunched Flows mapped directly to Agentforce actions. Mention that unexpected platform faults remain a future hardening item.</a:t>
            </a:r>
          </a:p>
          <a:p>
            <a:endParaRPr/>
          </a:p>
          <a:p>
            <a:r>
              <a:t>[Sources]</a:t>
            </a:r>
          </a:p>
          <a:p>
            <a:r>
              <a:t>- User-supplied Flow Builder canvases.</a:t>
            </a:r>
          </a:p>
          <a:p>
            <a:r>
              <a:t>- User-supplied Agentforce action definitions and Flow metadata.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demonstrate front-end development beyond standard configuration. The component provides a compact property snapshot on both desktop and mobile.</a:t>
            </a:r>
          </a:p>
          <a:p>
            <a:endParaRPr/>
          </a:p>
          <a:p>
            <a:r>
              <a:t>[Sources]</a:t>
            </a:r>
          </a:p>
          <a:p>
            <a:r>
              <a:t>- User-supplied LWC desktop and mobile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overclaim inherited sharing: the four Agentforce autolaunched flows run in system mode without sharing. Present this as a documented governance consideration for production hardening.</a:t>
            </a:r>
          </a:p>
          <a:p>
            <a:endParaRPr/>
          </a:p>
          <a:p>
            <a:r>
              <a:t>[Sources]</a:t>
            </a:r>
          </a:p>
          <a:p>
            <a:r>
              <a:t>- User-supplied permission-set and field-level security screenshots.</a:t>
            </a:r>
          </a:p>
          <a:p>
            <a:r>
              <a:t>- User-supplied Flow metadata.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Describe the dashboard as operational visibility, not predictive analytics. It consolidates current Salesforce records to support daily decisions.</a:t>
            </a:r>
          </a:p>
          <a:p>
            <a:endParaRPr/>
          </a:p>
          <a:p>
            <a:r>
              <a:t>[Sources]</a:t>
            </a:r>
          </a:p>
          <a:p>
            <a:r>
              <a:t>- User-supplied Property Sales Operations Dashboard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exactly what was verified: 13 documented cases are marked PASS in the test workbook, supported by screenshots. Avoid presenting this as production-scale performance or security certification.</a:t>
            </a:r>
          </a:p>
          <a:p>
            <a:endParaRPr/>
          </a:p>
          <a:p>
            <a:r>
              <a:t>[Sources]</a:t>
            </a:r>
          </a:p>
          <a:p>
            <a:r>
              <a:t>- User-supplied Book1(1).xlsx test workbook.</a:t>
            </a:r>
          </a:p>
          <a:p>
            <a:r>
              <a:t>- User-supplied TC-01 through TC-13 evidence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value statements qualitative because the project did not measure production KPIs. The evidence supports workflow consistency and visibility, not a quantified revenue claim.</a:t>
            </a:r>
          </a:p>
          <a:p>
            <a:endParaRPr/>
          </a:p>
          <a:p>
            <a:r>
              <a:t>[Sources]</a:t>
            </a:r>
          </a:p>
          <a:p>
            <a:r>
              <a:t>- User-supplied business objectives and implemented feature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these as deliberate next steps discovered during technical review. The first four are engineering hardening; channel expansion should follow after governance and observability are stronger.</a:t>
            </a:r>
          </a:p>
          <a:p>
            <a:endParaRPr/>
          </a:p>
          <a:p>
            <a:r>
              <a:t>[Sources]</a:t>
            </a:r>
          </a:p>
          <a:p>
            <a:r>
              <a:t>- User-supplied Flow metadata and implementation review.</a:t>
            </a:r>
          </a:p>
          <a:p>
            <a:r>
              <a:t>- User-supplied project future-enhancement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reinforcing the integration story: CRM data, Agentforce, Flow automation, responsive UX, security, analytics, and testing all support one business workflow.</a:t>
            </a:r>
          </a:p>
          <a:p>
            <a:endParaRPr/>
          </a:p>
          <a:p>
            <a:r>
              <a:t>[Sources]</a:t>
            </a:r>
          </a:p>
          <a:p>
            <a:r>
              <a:t>- User-supplied project documentation, configuration evidence, and test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942FA69-3296-48F4-9C6E-F0ADDC6D0C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3A5F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B63A02-5CA5-4EDC-B477-FDA3AF8853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C7C8C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5A7471-6804-4198-B38E-9F6AF1CC335E}"/>
              </a:ext>
            </a:extLst>
          </p:cNvPr>
          <p:cNvSpPr>
            <a:spLocks noGrp="1"/>
          </p:cNvSpPr>
          <p:nvPr/>
        </p:nvSpPr>
        <p:spPr>
          <a:xfrm>
            <a:off x="342900" y="552450"/>
            <a:ext cx="95250" cy="1104900"/>
          </a:xfrm>
          <a:prstGeom prst="rect">
            <a:avLst/>
          </a:prstGeom>
          <a:solidFill>
            <a:srgbClr val="2E74B5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A6CA9F-27FA-4820-8059-66BDD02E636D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9ED8E1"/>
                </a:solidFill>
              </a:defRPr>
            </a:pPr>
            <a:r>
              <a:rPr sz="975" b="1">
                <a:solidFill>
                  <a:srgbClr val="9ED8E1"/>
                </a:solidFill>
              </a:rPr>
              <a:t>FINAL PROJECT PRESENTATION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BFE34B-D51F-4C45-A32B-927F029919C0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5810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Smart Real Estate System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D9AD05-0B6A-4E70-8A10-3C61B8013995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71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0">
                <a:solidFill>
                  <a:srgbClr val="DCEAF6"/>
                </a:solidFill>
              </a:defRPr>
            </a:pPr>
            <a:r>
              <a:rPr sz="1950" b="0">
                <a:solidFill>
                  <a:srgbClr val="DCEAF6"/>
                </a:solidFill>
              </a:rPr>
              <a:t>Salesforce &amp; Agentforce Implementation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14925E-BF1F-4F66-9CEA-8C3EB9332C00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5334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BFD3E5"/>
                </a:solidFill>
              </a:defRPr>
            </a:pPr>
            <a:r>
              <a:rPr sz="1500" b="0">
                <a:solidFill>
                  <a:srgbClr val="BFD3E5"/>
                </a:solidFill>
              </a:rPr>
              <a:t>A governed CRM solution for lead qualification, property discovery, and showing orchestration.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11A553-2B9E-4E60-8CE3-E3EBFA3770F2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1200150" cy="57150"/>
          </a:xfrm>
          <a:prstGeom prst="rect">
            <a:avLst/>
          </a:prstGeom>
          <a:solidFill>
            <a:srgbClr val="1C7C8C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8768F6-AE4A-4905-8058-75D3CEDAC9C6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Rayian Hussain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3A1C5E-57CC-4477-951D-4728F70B9C9F}"/>
              </a:ext>
            </a:extLst>
          </p:cNvPr>
          <p:cNvSpPr>
            <a:spLocks noGrp="1"/>
          </p:cNvSpPr>
          <p:nvPr/>
        </p:nvSpPr>
        <p:spPr>
          <a:xfrm>
            <a:off x="685800" y="482917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BFD3E5"/>
                </a:solidFill>
              </a:defRPr>
            </a:pPr>
            <a:r>
              <a:rPr sz="1125" b="0">
                <a:solidFill>
                  <a:srgbClr val="BFD3E5"/>
                </a:solidFill>
              </a:rPr>
              <a:t>August 28, 2026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F21C5A7-F0CA-4845-A327-C4DB62B867F7}"/>
              </a:ext>
            </a:extLst>
          </p:cNvPr>
          <p:cNvSpPr>
            <a:spLocks noGrp="1"/>
          </p:cNvSpPr>
          <p:nvPr/>
        </p:nvSpPr>
        <p:spPr>
          <a:xfrm>
            <a:off x="6667500" y="704850"/>
            <a:ext cx="4857750" cy="5295900"/>
          </a:xfrm>
          <a:prstGeom prst="roundRect">
            <a:avLst>
              <a:gd name="adj" fmla="val 3137"/>
            </a:avLst>
          </a:prstGeom>
          <a:solidFill>
            <a:srgbClr val="0E2D4B"/>
          </a:solidFill>
          <a:ln w="9525">
            <a:solidFill>
              <a:srgbClr val="3F6A8E"/>
            </a:solidFill>
            <a:prstDash val="solid"/>
          </a:ln>
        </p:spPr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rcRect l="9950" r="9950"/>
          <a:stretch>
            <a:fillRect/>
          </a:stretch>
        </p:blipFill>
        <p:spPr>
          <a:xfrm>
            <a:off x="6896100" y="933450"/>
            <a:ext cx="4400550" cy="4838700"/>
          </a:xfrm>
          <a:prstGeom prst="roundRect">
            <a:avLst>
              <a:gd name="adj" fmla="val 2597"/>
            </a:avLst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D97B3B3-F41A-4250-9E79-E88FB66189E0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2476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DCEAF6"/>
                </a:solidFill>
              </a:defRPr>
            </a:pPr>
            <a:r>
              <a:rPr sz="675" b="1">
                <a:solidFill>
                  <a:srgbClr val="DCEAF6"/>
                </a:solidFill>
              </a:rPr>
              <a:t>SMART REAL ESTATE SYSTEM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8ACFEC-EF74-49EA-85DA-273BCF838AAF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DCEAF6"/>
                </a:solidFill>
              </a:defRPr>
            </a:pPr>
            <a:r>
              <a:rPr sz="750" b="1">
                <a:solidFill>
                  <a:srgbClr val="DCEAF6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04775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20186D5-8466-4978-AED5-192DA4C6B14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C7C8C"/>
                </a:solidFill>
              </a:defRPr>
            </a:pPr>
            <a:r>
              <a:rPr sz="900" b="1">
                <a:solidFill>
                  <a:srgbClr val="1C7C8C"/>
                </a:solidFill>
              </a:rPr>
              <a:t>BUSINESS PROBLEM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7F1192D-B680-4AAB-B543-1EB2E63BA54E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63A5F"/>
                </a:solidFill>
              </a:defRPr>
            </a:pPr>
            <a:r>
              <a:rPr sz="2700" b="1">
                <a:solidFill>
                  <a:srgbClr val="163A5F"/>
                </a:solidFill>
              </a:rPr>
              <a:t>Manual coordination slows the first response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C9B4F4-4047-4FC9-B325-2BCDA1FFD44E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742950" cy="47625"/>
          </a:xfrm>
          <a:prstGeom prst="rect">
            <a:avLst/>
          </a:prstGeom>
          <a:solidFill>
            <a:srgbClr val="1C7C8C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9E9C67-B0B9-4B75-8E53-2F3884BCD045}"/>
              </a:ext>
            </a:extLst>
          </p:cNvPr>
          <p:cNvSpPr>
            <a:spLocks noGrp="1"/>
          </p:cNvSpPr>
          <p:nvPr/>
        </p:nvSpPr>
        <p:spPr>
          <a:xfrm>
            <a:off x="628650" y="17335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88285A-B596-4620-A9A3-0C3B9B411FB0}"/>
              </a:ext>
            </a:extLst>
          </p:cNvPr>
          <p:cNvSpPr>
            <a:spLocks noGrp="1"/>
          </p:cNvSpPr>
          <p:nvPr/>
        </p:nvSpPr>
        <p:spPr>
          <a:xfrm>
            <a:off x="771525" y="18097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FA1959-7B58-4BA1-9EE1-6B0210751062}"/>
              </a:ext>
            </a:extLst>
          </p:cNvPr>
          <p:cNvSpPr>
            <a:spLocks noGrp="1"/>
          </p:cNvSpPr>
          <p:nvPr/>
        </p:nvSpPr>
        <p:spPr>
          <a:xfrm>
            <a:off x="1257300" y="17145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63A5F"/>
                </a:solidFill>
              </a:defRPr>
            </a:pPr>
            <a:r>
              <a:rPr sz="1500" b="1">
                <a:solidFill>
                  <a:srgbClr val="163A5F"/>
                </a:solidFill>
              </a:rPr>
              <a:t>Lead triage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C82823-F36F-4214-8B6A-EBC4A385A6E1}"/>
              </a:ext>
            </a:extLst>
          </p:cNvPr>
          <p:cNvSpPr>
            <a:spLocks noGrp="1"/>
          </p:cNvSpPr>
          <p:nvPr/>
        </p:nvSpPr>
        <p:spPr>
          <a:xfrm>
            <a:off x="1257300" y="2028825"/>
            <a:ext cx="276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Inbound leads require manual review before an agent can prioritize them.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ADB97F2-FBF3-4995-BF30-F485EA562097}"/>
              </a:ext>
            </a:extLst>
          </p:cNvPr>
          <p:cNvSpPr>
            <a:spLocks noGrp="1"/>
          </p:cNvSpPr>
          <p:nvPr/>
        </p:nvSpPr>
        <p:spPr>
          <a:xfrm>
            <a:off x="628650" y="29146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C7C8C"/>
          </a:solidFill>
          <a:ln w="9525">
            <a:solidFill>
              <a:srgbClr val="1C7C8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0FB4E2-9123-452D-BBCB-ED0A12DD31E0}"/>
              </a:ext>
            </a:extLst>
          </p:cNvPr>
          <p:cNvSpPr>
            <a:spLocks noGrp="1"/>
          </p:cNvSpPr>
          <p:nvPr/>
        </p:nvSpPr>
        <p:spPr>
          <a:xfrm>
            <a:off x="771525" y="29908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50A59-8138-4FF8-904A-11C6DE9FDDB2}"/>
              </a:ext>
            </a:extLst>
          </p:cNvPr>
          <p:cNvSpPr>
            <a:spLocks noGrp="1"/>
          </p:cNvSpPr>
          <p:nvPr/>
        </p:nvSpPr>
        <p:spPr>
          <a:xfrm>
            <a:off x="1257300" y="28956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63A5F"/>
                </a:solidFill>
              </a:defRPr>
            </a:pPr>
            <a:r>
              <a:rPr sz="1500" b="1">
                <a:solidFill>
                  <a:srgbClr val="163A5F"/>
                </a:solidFill>
              </a:rPr>
              <a:t>Inventory checks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99339F-2553-4812-9EFF-959537BC5424}"/>
              </a:ext>
            </a:extLst>
          </p:cNvPr>
          <p:cNvSpPr>
            <a:spLocks noGrp="1"/>
          </p:cNvSpPr>
          <p:nvPr/>
        </p:nvSpPr>
        <p:spPr>
          <a:xfrm>
            <a:off x="1257300" y="3209925"/>
            <a:ext cx="276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Property availability and fit must be searched across records.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C6531D-FC63-46BF-A3E6-CF8E1F3C94A8}"/>
              </a:ext>
            </a:extLst>
          </p:cNvPr>
          <p:cNvSpPr>
            <a:spLocks noGrp="1"/>
          </p:cNvSpPr>
          <p:nvPr/>
        </p:nvSpPr>
        <p:spPr>
          <a:xfrm>
            <a:off x="628650" y="40957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F42C1"/>
          </a:solidFill>
          <a:ln w="9525">
            <a:solidFill>
              <a:srgbClr val="6F42C1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462F4F-0876-4E1C-9C17-D99C6421222D}"/>
              </a:ext>
            </a:extLst>
          </p:cNvPr>
          <p:cNvSpPr>
            <a:spLocks noGrp="1"/>
          </p:cNvSpPr>
          <p:nvPr/>
        </p:nvSpPr>
        <p:spPr>
          <a:xfrm>
            <a:off x="771525" y="41719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FE044C-EB52-493E-84AF-CDF5C64CDD25}"/>
              </a:ext>
            </a:extLst>
          </p:cNvPr>
          <p:cNvSpPr>
            <a:spLocks noGrp="1"/>
          </p:cNvSpPr>
          <p:nvPr/>
        </p:nvSpPr>
        <p:spPr>
          <a:xfrm>
            <a:off x="1257300" y="40767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63A5F"/>
                </a:solidFill>
              </a:defRPr>
            </a:pPr>
            <a:r>
              <a:rPr sz="1500" b="1">
                <a:solidFill>
                  <a:srgbClr val="163A5F"/>
                </a:solidFill>
              </a:rPr>
              <a:t>Showing logistics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0B46AF-C9A3-4A04-A008-3386D77E3B8E}"/>
              </a:ext>
            </a:extLst>
          </p:cNvPr>
          <p:cNvSpPr>
            <a:spLocks noGrp="1"/>
          </p:cNvSpPr>
          <p:nvPr/>
        </p:nvSpPr>
        <p:spPr>
          <a:xfrm>
            <a:off x="1257300" y="4391025"/>
            <a:ext cx="276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Missing details and time conflicts create avoidable back-and-forth.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05A7B2A-52E9-4B9D-9941-D792A35845E1}"/>
              </a:ext>
            </a:extLst>
          </p:cNvPr>
          <p:cNvSpPr>
            <a:spLocks noGrp="1"/>
          </p:cNvSpPr>
          <p:nvPr/>
        </p:nvSpPr>
        <p:spPr>
          <a:xfrm>
            <a:off x="4490581" y="1581149"/>
            <a:ext cx="7072769" cy="4493973"/>
          </a:xfrm>
          <a:prstGeom prst="roundRect">
            <a:avLst>
              <a:gd name="adj" fmla="val 3604"/>
            </a:avLst>
          </a:prstGeom>
          <a:solidFill>
            <a:srgbClr val="F5F8FC"/>
          </a:solidFill>
          <a:ln w="9525">
            <a:solidFill>
              <a:srgbClr val="D8E3EE"/>
            </a:solidFill>
            <a:prstDash val="solid"/>
          </a:ln>
        </p:spPr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rcRect t="11469" b="11469"/>
          <a:stretch>
            <a:fillRect/>
          </a:stretch>
        </p:blipFill>
        <p:spPr>
          <a:xfrm>
            <a:off x="4762500" y="1771650"/>
            <a:ext cx="6610350" cy="3429000"/>
          </a:xfrm>
          <a:prstGeom prst="roundRect">
            <a:avLst>
              <a:gd name="adj" fmla="val 3333"/>
            </a:avLst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9767A33-19FF-4E3A-A7C3-CAC16EF12466}"/>
              </a:ext>
            </a:extLst>
          </p:cNvPr>
          <p:cNvSpPr>
            <a:spLocks noGrp="1"/>
          </p:cNvSpPr>
          <p:nvPr/>
        </p:nvSpPr>
        <p:spPr>
          <a:xfrm>
            <a:off x="4819650" y="53149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Business consequence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B100AB-0B0E-4C92-8A84-AACF309E4620}"/>
              </a:ext>
            </a:extLst>
          </p:cNvPr>
          <p:cNvSpPr>
            <a:spLocks noGrp="1"/>
          </p:cNvSpPr>
          <p:nvPr/>
        </p:nvSpPr>
        <p:spPr>
          <a:xfrm>
            <a:off x="4819650" y="5562600"/>
            <a:ext cx="6343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63A5F"/>
                </a:solidFill>
              </a:defRPr>
            </a:pPr>
            <a:r>
              <a:rPr sz="1350" b="1">
                <a:solidFill>
                  <a:srgbClr val="163A5F"/>
                </a:solidFill>
              </a:rPr>
              <a:t>Delayed engagement reduces buyer confidence and can weaken conversion performance.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1D013A-8F90-4284-AE79-729B76A8A37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2476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191A6"/>
                </a:solidFill>
              </a:defRPr>
            </a:pPr>
            <a:r>
              <a:rPr sz="675" b="1">
                <a:solidFill>
                  <a:srgbClr val="8191A6"/>
                </a:solidFill>
              </a:rPr>
              <a:t>SMART REAL ESTATE SYSTEM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D39841-8B52-4A15-A6CC-17AC50B3443C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8191A6"/>
                </a:solidFill>
              </a:defRPr>
            </a:pPr>
            <a:r>
              <a:rPr sz="750" b="1">
                <a:solidFill>
                  <a:srgbClr val="8191A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32678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A710ECA-88A9-4F9D-B2FE-5886DD391AB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C7C8C"/>
                </a:solidFill>
              </a:defRPr>
            </a:pPr>
            <a:r>
              <a:rPr sz="900" b="1">
                <a:solidFill>
                  <a:srgbClr val="1C7C8C"/>
                </a:solidFill>
              </a:rPr>
              <a:t>OBJECTIVES AND SCOPE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72FC9B3-9531-4EC1-8FB0-B43909ED5039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63A5F"/>
                </a:solidFill>
              </a:defRPr>
            </a:pPr>
            <a:r>
              <a:rPr sz="2700" b="1">
                <a:solidFill>
                  <a:srgbClr val="163A5F"/>
                </a:solidFill>
              </a:rPr>
              <a:t>Automation focuses agents on tours and closing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86C1F7-E394-45A0-8E9B-72D9BDEA941B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742950" cy="47625"/>
          </a:xfrm>
          <a:prstGeom prst="rect">
            <a:avLst/>
          </a:prstGeom>
          <a:solidFill>
            <a:srgbClr val="1C7C8C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69F9C1-630A-4615-9568-F0D7138179A7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C7C8C"/>
                </a:solidFill>
              </a:defRPr>
            </a:pPr>
            <a:r>
              <a:rPr sz="975" b="1">
                <a:solidFill>
                  <a:srgbClr val="1C7C8C"/>
                </a:solidFill>
              </a:rPr>
              <a:t>THREE PROJECT OBJECTIVES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8102B6-43C2-4EE1-A619-33B094906075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1629F2-B585-4194-8279-CDA42374F741}"/>
              </a:ext>
            </a:extLst>
          </p:cNvPr>
          <p:cNvSpPr>
            <a:spLocks noGrp="1"/>
          </p:cNvSpPr>
          <p:nvPr/>
        </p:nvSpPr>
        <p:spPr>
          <a:xfrm>
            <a:off x="771525" y="20764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F6F232-BECE-4DC6-B688-03D466403E27}"/>
              </a:ext>
            </a:extLst>
          </p:cNvPr>
          <p:cNvSpPr>
            <a:spLocks noGrp="1"/>
          </p:cNvSpPr>
          <p:nvPr/>
        </p:nvSpPr>
        <p:spPr>
          <a:xfrm>
            <a:off x="1257300" y="1981200"/>
            <a:ext cx="432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63A5F"/>
                </a:solidFill>
              </a:defRPr>
            </a:pPr>
            <a:r>
              <a:rPr sz="1500" b="1">
                <a:solidFill>
                  <a:srgbClr val="163A5F"/>
                </a:solidFill>
              </a:rPr>
              <a:t>Automate qualification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1501BA-8D10-4F6B-A24C-D6FA046A11B7}"/>
              </a:ext>
            </a:extLst>
          </p:cNvPr>
          <p:cNvSpPr>
            <a:spLocks noGrp="1"/>
          </p:cNvSpPr>
          <p:nvPr/>
        </p:nvSpPr>
        <p:spPr>
          <a:xfrm>
            <a:off x="1257300" y="2295525"/>
            <a:ext cx="4324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Capture preferences, calculate qualification, and create follow-up work.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E8406BE-F717-44D5-9738-2F34CC36FBBF}"/>
              </a:ext>
            </a:extLst>
          </p:cNvPr>
          <p:cNvSpPr>
            <a:spLocks noGrp="1"/>
          </p:cNvSpPr>
          <p:nvPr/>
        </p:nvSpPr>
        <p:spPr>
          <a:xfrm>
            <a:off x="628650" y="31813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F42C1"/>
          </a:solidFill>
          <a:ln w="9525">
            <a:solidFill>
              <a:srgbClr val="6F42C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737D6C-2A02-4EBC-8C75-0D35DAC33059}"/>
              </a:ext>
            </a:extLst>
          </p:cNvPr>
          <p:cNvSpPr>
            <a:spLocks noGrp="1"/>
          </p:cNvSpPr>
          <p:nvPr/>
        </p:nvSpPr>
        <p:spPr>
          <a:xfrm>
            <a:off x="771525" y="32575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733311-FC16-4D9C-8B83-A3C173D764F0}"/>
              </a:ext>
            </a:extLst>
          </p:cNvPr>
          <p:cNvSpPr>
            <a:spLocks noGrp="1"/>
          </p:cNvSpPr>
          <p:nvPr/>
        </p:nvSpPr>
        <p:spPr>
          <a:xfrm>
            <a:off x="1257300" y="3162300"/>
            <a:ext cx="432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63A5F"/>
                </a:solidFill>
              </a:defRPr>
            </a:pPr>
            <a:r>
              <a:rPr sz="1500" b="1">
                <a:solidFill>
                  <a:srgbClr val="163A5F"/>
                </a:solidFill>
              </a:rPr>
              <a:t>Enable guided self-service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E15AA0-2860-4559-8C75-506A2EA895F6}"/>
              </a:ext>
            </a:extLst>
          </p:cNvPr>
          <p:cNvSpPr>
            <a:spLocks noGrp="1"/>
          </p:cNvSpPr>
          <p:nvPr/>
        </p:nvSpPr>
        <p:spPr>
          <a:xfrm>
            <a:off x="1257300" y="3476625"/>
            <a:ext cx="4324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Use Agentforce for property questions and confirmed showing requests.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7AC38F-2631-4683-9AD3-190BFB75D1CA}"/>
              </a:ext>
            </a:extLst>
          </p:cNvPr>
          <p:cNvSpPr>
            <a:spLocks noGrp="1"/>
          </p:cNvSpPr>
          <p:nvPr/>
        </p:nvSpPr>
        <p:spPr>
          <a:xfrm>
            <a:off x="628650" y="43624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C7C8C"/>
          </a:solidFill>
          <a:ln w="9525">
            <a:solidFill>
              <a:srgbClr val="1C7C8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C24A10-A494-4362-B447-5F3575BB31FC}"/>
              </a:ext>
            </a:extLst>
          </p:cNvPr>
          <p:cNvSpPr>
            <a:spLocks noGrp="1"/>
          </p:cNvSpPr>
          <p:nvPr/>
        </p:nvSpPr>
        <p:spPr>
          <a:xfrm>
            <a:off x="771525" y="44386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7620E6-42F4-4C16-8315-284383D7BA5F}"/>
              </a:ext>
            </a:extLst>
          </p:cNvPr>
          <p:cNvSpPr>
            <a:spLocks noGrp="1"/>
          </p:cNvSpPr>
          <p:nvPr/>
        </p:nvSpPr>
        <p:spPr>
          <a:xfrm>
            <a:off x="1257300" y="4343400"/>
            <a:ext cx="432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63A5F"/>
                </a:solidFill>
              </a:defRPr>
            </a:pPr>
            <a:r>
              <a:rPr sz="1500" b="1">
                <a:solidFill>
                  <a:srgbClr val="163A5F"/>
                </a:solidFill>
              </a:rPr>
              <a:t>Create operational visibility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5F13B5-C6EE-4CCE-AD21-C054A0CF76E5}"/>
              </a:ext>
            </a:extLst>
          </p:cNvPr>
          <p:cNvSpPr>
            <a:spLocks noGrp="1"/>
          </p:cNvSpPr>
          <p:nvPr/>
        </p:nvSpPr>
        <p:spPr>
          <a:xfrm>
            <a:off x="1257300" y="4657725"/>
            <a:ext cx="4324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Centralize inventory, funnel, offer, and showing insights.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34343A8-72F5-4C71-BCD2-D63DD6F9C9CD}"/>
              </a:ext>
            </a:extLst>
          </p:cNvPr>
          <p:cNvSpPr>
            <a:spLocks noGrp="1"/>
          </p:cNvSpPr>
          <p:nvPr/>
        </p:nvSpPr>
        <p:spPr>
          <a:xfrm>
            <a:off x="6286500" y="1562100"/>
            <a:ext cx="5276850" cy="405765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69D558-9754-4063-A3A7-D436355654CD}"/>
              </a:ext>
            </a:extLst>
          </p:cNvPr>
          <p:cNvSpPr>
            <a:spLocks noGrp="1"/>
          </p:cNvSpPr>
          <p:nvPr/>
        </p:nvSpPr>
        <p:spPr>
          <a:xfrm>
            <a:off x="6591300" y="18478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F8A70"/>
                </a:solidFill>
              </a:defRPr>
            </a:pPr>
            <a:r>
              <a:rPr sz="975" b="1">
                <a:solidFill>
                  <a:srgbClr val="1F8A70"/>
                </a:solidFill>
              </a:rPr>
              <a:t>IN SCOPE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C87A94-374A-4A62-8F66-387121E0CF5F}"/>
              </a:ext>
            </a:extLst>
          </p:cNvPr>
          <p:cNvSpPr>
            <a:spLocks noGrp="1"/>
          </p:cNvSpPr>
          <p:nvPr/>
        </p:nvSpPr>
        <p:spPr>
          <a:xfrm>
            <a:off x="6591300" y="2190750"/>
            <a:ext cx="44767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Agentforce conversational interface</a:t>
            </a:r>
          </a:p>
          <a:p>
            <a:pPr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Autolaunched and record-triggered Flows</a:t>
            </a:r>
          </a:p>
          <a:p>
            <a:pPr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Lightning App, record pages, Dynamic Forms</a:t>
            </a:r>
          </a:p>
          <a:p>
            <a:pPr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Responsive custom LWC</a:t>
            </a:r>
          </a:p>
          <a:p>
            <a:pPr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Role-based access and field-level security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844F57-2C60-4366-A59F-C00F482A93B0}"/>
              </a:ext>
            </a:extLst>
          </p:cNvPr>
          <p:cNvSpPr>
            <a:spLocks noGrp="1"/>
          </p:cNvSpPr>
          <p:nvPr/>
        </p:nvSpPr>
        <p:spPr>
          <a:xfrm>
            <a:off x="6591300" y="4038600"/>
            <a:ext cx="4229100" cy="1905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C3A884-4575-4C66-BE61-6D6C37C6D467}"/>
              </a:ext>
            </a:extLst>
          </p:cNvPr>
          <p:cNvSpPr>
            <a:spLocks noGrp="1"/>
          </p:cNvSpPr>
          <p:nvPr/>
        </p:nvSpPr>
        <p:spPr>
          <a:xfrm>
            <a:off x="6591300" y="43053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B42318"/>
                </a:solidFill>
              </a:defRPr>
            </a:pPr>
            <a:r>
              <a:rPr sz="975" b="1">
                <a:solidFill>
                  <a:srgbClr val="B42318"/>
                </a:solidFill>
              </a:rPr>
              <a:t>OUT OF SCOPE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7A96E2-0F50-4E96-A477-F31F17BD4154}"/>
              </a:ext>
            </a:extLst>
          </p:cNvPr>
          <p:cNvSpPr>
            <a:spLocks noGrp="1"/>
          </p:cNvSpPr>
          <p:nvPr/>
        </p:nvSpPr>
        <p:spPr>
          <a:xfrm>
            <a:off x="6591300" y="4648200"/>
            <a:ext cx="4476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External customer website</a:t>
            </a:r>
          </a:p>
          <a:p>
            <a:pPr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Billing and invoicing</a:t>
            </a:r>
          </a:p>
          <a:p>
            <a:pPr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Post-sale maintenance tracking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57D711-6311-4DFC-9244-E7D890625507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2476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191A6"/>
                </a:solidFill>
              </a:defRPr>
            </a:pPr>
            <a:r>
              <a:rPr sz="675" b="1">
                <a:solidFill>
                  <a:srgbClr val="8191A6"/>
                </a:solidFill>
              </a:rPr>
              <a:t>SMART REAL ESTATE SYSTEM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A0AEE7-5E25-4AE3-B241-2A15CF78EFA7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8191A6"/>
                </a:solidFill>
              </a:defRPr>
            </a:pPr>
            <a:r>
              <a:rPr sz="750" b="1">
                <a:solidFill>
                  <a:srgbClr val="8191A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92594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79A289B-C154-4042-A581-723B3A7AECF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C7C8C"/>
                </a:solidFill>
              </a:defRPr>
            </a:pPr>
            <a:r>
              <a:rPr sz="975" b="1">
                <a:solidFill>
                  <a:srgbClr val="1C7C8C"/>
                </a:solidFill>
              </a:rPr>
              <a:t>SOLUTION ARCHITECTURE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D50D9B0-30B6-46A9-8110-D2D871504A94}"/>
              </a:ext>
            </a:extLst>
          </p:cNvPr>
          <p:cNvSpPr>
            <a:spLocks noGrp="1"/>
          </p:cNvSpPr>
          <p:nvPr/>
        </p:nvSpPr>
        <p:spPr>
          <a:xfrm>
            <a:off x="419100" y="590550"/>
            <a:ext cx="11353800" cy="5734050"/>
          </a:xfrm>
          <a:prstGeom prst="roundRect">
            <a:avLst>
              <a:gd name="adj" fmla="val 2658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61761" y="742950"/>
            <a:ext cx="7868478" cy="5429250"/>
          </a:xfrm>
          <a:prstGeom prst="roundRect">
            <a:avLst>
              <a:gd name="adj" fmla="val 2105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BDE792-0B7D-44E9-9C53-9A79A7E82EB4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2476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191A6"/>
                </a:solidFill>
              </a:defRPr>
            </a:pPr>
            <a:r>
              <a:rPr sz="675" b="1">
                <a:solidFill>
                  <a:srgbClr val="8191A6"/>
                </a:solidFill>
              </a:rPr>
              <a:t>SMART REAL ESTATE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EA4C46-2773-420F-85D2-4606342C4A58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8191A6"/>
                </a:solidFill>
              </a:defRPr>
            </a:pPr>
            <a:r>
              <a:rPr sz="750" b="1">
                <a:solidFill>
                  <a:srgbClr val="8191A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3048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52AAE4-217D-47C3-A0B6-D336F044E46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C7C8C"/>
                </a:solidFill>
              </a:defRPr>
            </a:pPr>
            <a:r>
              <a:rPr sz="975" b="1">
                <a:solidFill>
                  <a:srgbClr val="1C7C8C"/>
                </a:solidFill>
              </a:rPr>
              <a:t>DATA MODEL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07A4633-7653-4788-9283-583DFBE31452}"/>
              </a:ext>
            </a:extLst>
          </p:cNvPr>
          <p:cNvSpPr>
            <a:spLocks noGrp="1"/>
          </p:cNvSpPr>
          <p:nvPr/>
        </p:nvSpPr>
        <p:spPr>
          <a:xfrm>
            <a:off x="419100" y="590550"/>
            <a:ext cx="11353800" cy="5734050"/>
          </a:xfrm>
          <a:prstGeom prst="roundRect">
            <a:avLst>
              <a:gd name="adj" fmla="val 2658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54398" y="742950"/>
            <a:ext cx="8483203" cy="5429250"/>
          </a:xfrm>
          <a:prstGeom prst="roundRect">
            <a:avLst>
              <a:gd name="adj" fmla="val 2105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00153C7-7FAF-471F-8F01-FA102FF52421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2476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191A6"/>
                </a:solidFill>
              </a:defRPr>
            </a:pPr>
            <a:r>
              <a:rPr sz="675" b="1">
                <a:solidFill>
                  <a:srgbClr val="8191A6"/>
                </a:solidFill>
              </a:rPr>
              <a:t>SMART REAL ESTATE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C93048-698D-499F-8529-4B2A524EB829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8191A6"/>
                </a:solidFill>
              </a:defRPr>
            </a:pPr>
            <a:r>
              <a:rPr sz="750" b="1">
                <a:solidFill>
                  <a:srgbClr val="8191A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39903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66A396E-6583-4BB4-B2B0-4A82A66297F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C7C8C"/>
                </a:solidFill>
              </a:defRPr>
            </a:pPr>
            <a:r>
              <a:rPr sz="900" b="1">
                <a:solidFill>
                  <a:srgbClr val="1C7C8C"/>
                </a:solidFill>
              </a:rPr>
              <a:t>LIGHTNING APP AND UX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E783B43-636B-4C8F-9BFE-FCFEA60F8740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63A5F"/>
                </a:solidFill>
              </a:defRPr>
            </a:pPr>
            <a:r>
              <a:rPr sz="2700" b="1">
                <a:solidFill>
                  <a:srgbClr val="163A5F"/>
                </a:solidFill>
              </a:rPr>
              <a:t>One workspace supports the full sales cycle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459525-A2F3-49D7-824D-B35F9CAB48FE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742950" cy="47625"/>
          </a:xfrm>
          <a:prstGeom prst="rect">
            <a:avLst/>
          </a:prstGeom>
          <a:solidFill>
            <a:srgbClr val="1C7C8C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ED6630-4A33-451A-9CBA-F7AC5F525FF5}"/>
              </a:ext>
            </a:extLst>
          </p:cNvPr>
          <p:cNvSpPr>
            <a:spLocks noGrp="1"/>
          </p:cNvSpPr>
          <p:nvPr/>
        </p:nvSpPr>
        <p:spPr>
          <a:xfrm>
            <a:off x="552450" y="1524000"/>
            <a:ext cx="7715250" cy="4552950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t="17332" b="17332"/>
          <a:stretch>
            <a:fillRect/>
          </a:stretch>
        </p:blipFill>
        <p:spPr>
          <a:xfrm>
            <a:off x="685800" y="1657350"/>
            <a:ext cx="7448550" cy="4286250"/>
          </a:xfrm>
          <a:prstGeom prst="roundRect">
            <a:avLst>
              <a:gd name="adj" fmla="val 2667"/>
            </a:avLst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C11CEF-41C4-4D76-81E1-44207A0F3D3F}"/>
              </a:ext>
            </a:extLst>
          </p:cNvPr>
          <p:cNvSpPr>
            <a:spLocks noGrp="1"/>
          </p:cNvSpPr>
          <p:nvPr/>
        </p:nvSpPr>
        <p:spPr>
          <a:xfrm>
            <a:off x="8496300" y="1524000"/>
            <a:ext cx="3143250" cy="455295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rcRect l="23021" r="23021"/>
          <a:stretch>
            <a:fillRect/>
          </a:stretch>
        </p:blipFill>
        <p:spPr>
          <a:xfrm>
            <a:off x="8648700" y="1676400"/>
            <a:ext cx="2838450" cy="3105150"/>
          </a:xfrm>
          <a:prstGeom prst="roundRect">
            <a:avLst>
              <a:gd name="adj" fmla="val 4027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35577D5-2277-4D57-9A6A-767FD6E5F248}"/>
              </a:ext>
            </a:extLst>
          </p:cNvPr>
          <p:cNvSpPr>
            <a:spLocks noGrp="1"/>
          </p:cNvSpPr>
          <p:nvPr/>
        </p:nvSpPr>
        <p:spPr>
          <a:xfrm>
            <a:off x="8705850" y="497205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63A5F"/>
                </a:solidFill>
              </a:defRPr>
            </a:pPr>
            <a:r>
              <a:rPr sz="1350" b="1">
                <a:solidFill>
                  <a:srgbClr val="163A5F"/>
                </a:solidFill>
              </a:rPr>
              <a:t>Responsive experience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371ADD-C5CE-43F1-94E4-E6A3244B68CB}"/>
              </a:ext>
            </a:extLst>
          </p:cNvPr>
          <p:cNvSpPr>
            <a:spLocks noGrp="1"/>
          </p:cNvSpPr>
          <p:nvPr/>
        </p:nvSpPr>
        <p:spPr>
          <a:xfrm>
            <a:off x="8705850" y="5276850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Desktop and mobile layouts preserve record context and access to related Showings and Offers.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C04117-5D78-46E2-8CD1-D6F535C66032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2476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191A6"/>
                </a:solidFill>
              </a:defRPr>
            </a:pPr>
            <a:r>
              <a:rPr sz="675" b="1">
                <a:solidFill>
                  <a:srgbClr val="8191A6"/>
                </a:solidFill>
              </a:rPr>
              <a:t>SMART REAL ESTATE SYSTEM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B28A07-CBB4-48EF-B5DC-C4011D99FDDC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8191A6"/>
                </a:solidFill>
              </a:defRPr>
            </a:pPr>
            <a:r>
              <a:rPr sz="750" b="1">
                <a:solidFill>
                  <a:srgbClr val="8191A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80691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B84FC6E7-306A-4601-82F3-87D1C8B9931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C7C8C"/>
                </a:solidFill>
              </a:defRPr>
            </a:pPr>
            <a:r>
              <a:rPr sz="900" b="1">
                <a:solidFill>
                  <a:srgbClr val="1C7C8C"/>
                </a:solidFill>
              </a:rPr>
              <a:t>AGENTFORCE CONFIGURATION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6CEC6E4-B8AD-4F34-8E28-BCDC5D667106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63A5F"/>
                </a:solidFill>
              </a:defRPr>
            </a:pPr>
            <a:r>
              <a:rPr sz="2700" b="1">
                <a:solidFill>
                  <a:srgbClr val="163A5F"/>
                </a:solidFill>
              </a:rPr>
              <a:t>Seven routed topics keep the assistant grounded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2A39DB-E874-4A6F-8FF1-352F324EC43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742950" cy="47625"/>
          </a:xfrm>
          <a:prstGeom prst="rect">
            <a:avLst/>
          </a:prstGeom>
          <a:solidFill>
            <a:srgbClr val="1C7C8C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8CDB46-14C2-438E-801B-657835022454}"/>
              </a:ext>
            </a:extLst>
          </p:cNvPr>
          <p:cNvSpPr>
            <a:spLocks noGrp="1"/>
          </p:cNvSpPr>
          <p:nvPr/>
        </p:nvSpPr>
        <p:spPr>
          <a:xfrm>
            <a:off x="533400" y="1562100"/>
            <a:ext cx="7010400" cy="4438650"/>
          </a:xfrm>
          <a:prstGeom prst="roundRect">
            <a:avLst>
              <a:gd name="adj" fmla="val 3433"/>
            </a:avLst>
          </a:prstGeom>
          <a:solidFill>
            <a:srgbClr val="F5F8FC"/>
          </a:solidFill>
          <a:ln w="9525">
            <a:solidFill>
              <a:srgbClr val="D8E3EE"/>
            </a:solidFill>
            <a:prstDash val="solid"/>
          </a:ln>
        </p:spPr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061732"/>
            <a:ext cx="6743700" cy="3439386"/>
          </a:xfrm>
          <a:prstGeom prst="roundRect">
            <a:avLst>
              <a:gd name="adj" fmla="val 2740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CAA986A-F0A4-4F86-86E6-692637161184}"/>
              </a:ext>
            </a:extLst>
          </p:cNvPr>
          <p:cNvSpPr>
            <a:spLocks noGrp="1"/>
          </p:cNvSpPr>
          <p:nvPr/>
        </p:nvSpPr>
        <p:spPr>
          <a:xfrm>
            <a:off x="7924800" y="165735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6F42C1"/>
                </a:solidFill>
              </a:defRPr>
            </a:pPr>
            <a:r>
              <a:rPr sz="975" b="1">
                <a:solidFill>
                  <a:srgbClr val="6F42C1"/>
                </a:solidFill>
              </a:rPr>
              <a:t>PROPERTY SALES ASSISTANT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2104A4-3F2C-45D6-ABA2-EE99B17CCE91}"/>
              </a:ext>
            </a:extLst>
          </p:cNvPr>
          <p:cNvSpPr>
            <a:spLocks noGrp="1"/>
          </p:cNvSpPr>
          <p:nvPr/>
        </p:nvSpPr>
        <p:spPr>
          <a:xfrm>
            <a:off x="7924800" y="20002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C7C8C"/>
                </a:solidFill>
              </a:defRPr>
            </a:pPr>
            <a:r>
              <a:rPr sz="975" b="1">
                <a:solidFill>
                  <a:srgbClr val="1C7C8C"/>
                </a:solidFill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9A5BC8-23E0-46B5-8173-CEDFDDE2CBF2}"/>
              </a:ext>
            </a:extLst>
          </p:cNvPr>
          <p:cNvSpPr>
            <a:spLocks noGrp="1"/>
          </p:cNvSpPr>
          <p:nvPr/>
        </p:nvSpPr>
        <p:spPr>
          <a:xfrm>
            <a:off x="8343900" y="19812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63A5F"/>
                </a:solidFill>
              </a:defRPr>
            </a:pPr>
            <a:r>
              <a:rPr sz="1275" b="1">
                <a:solidFill>
                  <a:srgbClr val="163A5F"/>
                </a:solidFill>
              </a:rPr>
              <a:t>Property Details Inquiry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9078D6-035F-48C2-9AB3-45B20073A94F}"/>
              </a:ext>
            </a:extLst>
          </p:cNvPr>
          <p:cNvSpPr>
            <a:spLocks noGrp="1"/>
          </p:cNvSpPr>
          <p:nvPr/>
        </p:nvSpPr>
        <p:spPr>
          <a:xfrm>
            <a:off x="8343900" y="220980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Grounded property search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642B6C-E8FD-42CC-BFD2-66926A93CCD7}"/>
              </a:ext>
            </a:extLst>
          </p:cNvPr>
          <p:cNvSpPr>
            <a:spLocks noGrp="1"/>
          </p:cNvSpPr>
          <p:nvPr/>
        </p:nvSpPr>
        <p:spPr>
          <a:xfrm>
            <a:off x="7924800" y="2457450"/>
            <a:ext cx="3333750" cy="9525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22280-13D5-491D-89B2-9FA38AC9CE89}"/>
              </a:ext>
            </a:extLst>
          </p:cNvPr>
          <p:cNvSpPr>
            <a:spLocks noGrp="1"/>
          </p:cNvSpPr>
          <p:nvPr/>
        </p:nvSpPr>
        <p:spPr>
          <a:xfrm>
            <a:off x="7924800" y="25431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C7C8C"/>
                </a:solidFill>
              </a:defRPr>
            </a:pPr>
            <a:r>
              <a:rPr sz="975" b="1">
                <a:solidFill>
                  <a:srgbClr val="1C7C8C"/>
                </a:solidFill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929233-0899-427A-A7C1-BADB52E14278}"/>
              </a:ext>
            </a:extLst>
          </p:cNvPr>
          <p:cNvSpPr>
            <a:spLocks noGrp="1"/>
          </p:cNvSpPr>
          <p:nvPr/>
        </p:nvSpPr>
        <p:spPr>
          <a:xfrm>
            <a:off x="8343900" y="25241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63A5F"/>
                </a:solidFill>
              </a:defRPr>
            </a:pPr>
            <a:r>
              <a:rPr sz="1275" b="1">
                <a:solidFill>
                  <a:srgbClr val="163A5F"/>
                </a:solidFill>
              </a:rPr>
              <a:t>Lead Qualification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62023B-D59D-4EED-A3AF-98D8C6E60BBE}"/>
              </a:ext>
            </a:extLst>
          </p:cNvPr>
          <p:cNvSpPr>
            <a:spLocks noGrp="1"/>
          </p:cNvSpPr>
          <p:nvPr/>
        </p:nvSpPr>
        <p:spPr>
          <a:xfrm>
            <a:off x="8343900" y="27527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Capture and update preferences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B5895D-F610-4303-B3AE-6B743E20CD2F}"/>
              </a:ext>
            </a:extLst>
          </p:cNvPr>
          <p:cNvSpPr>
            <a:spLocks noGrp="1"/>
          </p:cNvSpPr>
          <p:nvPr/>
        </p:nvSpPr>
        <p:spPr>
          <a:xfrm>
            <a:off x="7924800" y="3000375"/>
            <a:ext cx="3333750" cy="9525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AA8749-CEDA-40D5-9396-FDAE9B343FDC}"/>
              </a:ext>
            </a:extLst>
          </p:cNvPr>
          <p:cNvSpPr>
            <a:spLocks noGrp="1"/>
          </p:cNvSpPr>
          <p:nvPr/>
        </p:nvSpPr>
        <p:spPr>
          <a:xfrm>
            <a:off x="7924800" y="30861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C7C8C"/>
                </a:solidFill>
              </a:defRPr>
            </a:pPr>
            <a:r>
              <a:rPr sz="975" b="1">
                <a:solidFill>
                  <a:srgbClr val="1C7C8C"/>
                </a:solidFill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9EEA3D-03C9-49DE-8876-BAE648EC426F}"/>
              </a:ext>
            </a:extLst>
          </p:cNvPr>
          <p:cNvSpPr>
            <a:spLocks noGrp="1"/>
          </p:cNvSpPr>
          <p:nvPr/>
        </p:nvSpPr>
        <p:spPr>
          <a:xfrm>
            <a:off x="8343900" y="30670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63A5F"/>
                </a:solidFill>
              </a:defRPr>
            </a:pPr>
            <a:r>
              <a:rPr sz="1275" b="1">
                <a:solidFill>
                  <a:srgbClr val="163A5F"/>
                </a:solidFill>
              </a:rPr>
              <a:t>Agent Availability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E81A14-64C6-4F6D-B145-EBC19EE034BC}"/>
              </a:ext>
            </a:extLst>
          </p:cNvPr>
          <p:cNvSpPr>
            <a:spLocks noGrp="1"/>
          </p:cNvSpPr>
          <p:nvPr/>
        </p:nvSpPr>
        <p:spPr>
          <a:xfrm>
            <a:off x="8343900" y="32956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Check schedule conflicts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DFCE47-A2AD-4484-83DC-0625A607BA9E}"/>
              </a:ext>
            </a:extLst>
          </p:cNvPr>
          <p:cNvSpPr>
            <a:spLocks noGrp="1"/>
          </p:cNvSpPr>
          <p:nvPr/>
        </p:nvSpPr>
        <p:spPr>
          <a:xfrm>
            <a:off x="7924800" y="3543300"/>
            <a:ext cx="3333750" cy="9525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EC9B81-685D-451C-B0C9-BB3960D3AAD6}"/>
              </a:ext>
            </a:extLst>
          </p:cNvPr>
          <p:cNvSpPr>
            <a:spLocks noGrp="1"/>
          </p:cNvSpPr>
          <p:nvPr/>
        </p:nvSpPr>
        <p:spPr>
          <a:xfrm>
            <a:off x="7924800" y="362902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C7C8C"/>
                </a:solidFill>
              </a:defRPr>
            </a:pPr>
            <a:r>
              <a:rPr sz="975" b="1">
                <a:solidFill>
                  <a:srgbClr val="1C7C8C"/>
                </a:solidFill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35E8C3-D7D8-4D63-AEFE-02D28F13623E}"/>
              </a:ext>
            </a:extLst>
          </p:cNvPr>
          <p:cNvSpPr>
            <a:spLocks noGrp="1"/>
          </p:cNvSpPr>
          <p:nvPr/>
        </p:nvSpPr>
        <p:spPr>
          <a:xfrm>
            <a:off x="8343900" y="36099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63A5F"/>
                </a:solidFill>
              </a:defRPr>
            </a:pPr>
            <a:r>
              <a:rPr sz="1275" b="1">
                <a:solidFill>
                  <a:srgbClr val="163A5F"/>
                </a:solidFill>
              </a:rPr>
              <a:t>Schedule Showing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50AF91-ABD8-49D6-93C8-7B851BE5A55C}"/>
              </a:ext>
            </a:extLst>
          </p:cNvPr>
          <p:cNvSpPr>
            <a:spLocks noGrp="1"/>
          </p:cNvSpPr>
          <p:nvPr/>
        </p:nvSpPr>
        <p:spPr>
          <a:xfrm>
            <a:off x="8343900" y="383857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Create only after confirmation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CC63F0-D6B1-44DB-A7D3-9B0ECD33B5BB}"/>
              </a:ext>
            </a:extLst>
          </p:cNvPr>
          <p:cNvSpPr>
            <a:spLocks noGrp="1"/>
          </p:cNvSpPr>
          <p:nvPr/>
        </p:nvSpPr>
        <p:spPr>
          <a:xfrm>
            <a:off x="7924800" y="4086225"/>
            <a:ext cx="3333750" cy="9525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B313AE-5EDE-44CB-8F57-7F04B6C9E714}"/>
              </a:ext>
            </a:extLst>
          </p:cNvPr>
          <p:cNvSpPr>
            <a:spLocks noGrp="1"/>
          </p:cNvSpPr>
          <p:nvPr/>
        </p:nvSpPr>
        <p:spPr>
          <a:xfrm>
            <a:off x="7924800" y="41719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C7C8C"/>
                </a:solidFill>
              </a:defRPr>
            </a:pPr>
            <a:r>
              <a:rPr sz="975" b="1">
                <a:solidFill>
                  <a:srgbClr val="1C7C8C"/>
                </a:solidFill>
              </a:rPr>
              <a:t>05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E11148-72E0-4D3A-86B5-9964EF76CAEB}"/>
              </a:ext>
            </a:extLst>
          </p:cNvPr>
          <p:cNvSpPr>
            <a:spLocks noGrp="1"/>
          </p:cNvSpPr>
          <p:nvPr/>
        </p:nvSpPr>
        <p:spPr>
          <a:xfrm>
            <a:off x="8343900" y="41529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63A5F"/>
                </a:solidFill>
              </a:defRPr>
            </a:pPr>
            <a:r>
              <a:rPr sz="1275" b="1">
                <a:solidFill>
                  <a:srgbClr val="163A5F"/>
                </a:solidFill>
              </a:rPr>
              <a:t>Ambiguous Question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C818E9-1B1C-41DD-A36A-AEB6FF4FB84D}"/>
              </a:ext>
            </a:extLst>
          </p:cNvPr>
          <p:cNvSpPr>
            <a:spLocks noGrp="1"/>
          </p:cNvSpPr>
          <p:nvPr/>
        </p:nvSpPr>
        <p:spPr>
          <a:xfrm>
            <a:off x="8343900" y="438150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Request clarification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546445-3C40-42C8-9D89-C30901912DD5}"/>
              </a:ext>
            </a:extLst>
          </p:cNvPr>
          <p:cNvSpPr>
            <a:spLocks noGrp="1"/>
          </p:cNvSpPr>
          <p:nvPr/>
        </p:nvSpPr>
        <p:spPr>
          <a:xfrm>
            <a:off x="7924800" y="4629150"/>
            <a:ext cx="3333750" cy="9525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949321-AC62-4084-9D05-89C03D7AB173}"/>
              </a:ext>
            </a:extLst>
          </p:cNvPr>
          <p:cNvSpPr>
            <a:spLocks noGrp="1"/>
          </p:cNvSpPr>
          <p:nvPr/>
        </p:nvSpPr>
        <p:spPr>
          <a:xfrm>
            <a:off x="7924800" y="47148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C7C8C"/>
                </a:solidFill>
              </a:defRPr>
            </a:pPr>
            <a:r>
              <a:rPr sz="975" b="1">
                <a:solidFill>
                  <a:srgbClr val="1C7C8C"/>
                </a:solidFill>
              </a:rPr>
              <a:t>06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251472-C8EC-4AB5-9FF5-50ECAEBB1265}"/>
              </a:ext>
            </a:extLst>
          </p:cNvPr>
          <p:cNvSpPr>
            <a:spLocks noGrp="1"/>
          </p:cNvSpPr>
          <p:nvPr/>
        </p:nvSpPr>
        <p:spPr>
          <a:xfrm>
            <a:off x="8343900" y="46958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63A5F"/>
                </a:solidFill>
              </a:defRPr>
            </a:pPr>
            <a:r>
              <a:rPr sz="1275" b="1">
                <a:solidFill>
                  <a:srgbClr val="163A5F"/>
                </a:solidFill>
              </a:rPr>
              <a:t>Escalation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5DC2C5-C879-45E9-B398-4831908BEBD1}"/>
              </a:ext>
            </a:extLst>
          </p:cNvPr>
          <p:cNvSpPr>
            <a:spLocks noGrp="1"/>
          </p:cNvSpPr>
          <p:nvPr/>
        </p:nvSpPr>
        <p:spPr>
          <a:xfrm>
            <a:off x="8343900" y="49244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Transfer to a human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3161FB-8377-4505-B309-58EB89F95488}"/>
              </a:ext>
            </a:extLst>
          </p:cNvPr>
          <p:cNvSpPr>
            <a:spLocks noGrp="1"/>
          </p:cNvSpPr>
          <p:nvPr/>
        </p:nvSpPr>
        <p:spPr>
          <a:xfrm>
            <a:off x="7924800" y="5172075"/>
            <a:ext cx="3333750" cy="9525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0E792C-D1E0-473D-8B70-6BD5A17EAAA6}"/>
              </a:ext>
            </a:extLst>
          </p:cNvPr>
          <p:cNvSpPr>
            <a:spLocks noGrp="1"/>
          </p:cNvSpPr>
          <p:nvPr/>
        </p:nvSpPr>
        <p:spPr>
          <a:xfrm>
            <a:off x="7924800" y="52578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C7C8C"/>
                </a:solidFill>
              </a:defRPr>
            </a:pPr>
            <a:r>
              <a:rPr sz="975" b="1">
                <a:solidFill>
                  <a:srgbClr val="1C7C8C"/>
                </a:solidFill>
              </a:rPr>
              <a:t>07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5C2463-59F6-431A-93E8-8121DF000481}"/>
              </a:ext>
            </a:extLst>
          </p:cNvPr>
          <p:cNvSpPr>
            <a:spLocks noGrp="1"/>
          </p:cNvSpPr>
          <p:nvPr/>
        </p:nvSpPr>
        <p:spPr>
          <a:xfrm>
            <a:off x="8343900" y="52387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63A5F"/>
                </a:solidFill>
              </a:defRPr>
            </a:pPr>
            <a:r>
              <a:rPr sz="1275" b="1">
                <a:solidFill>
                  <a:srgbClr val="163A5F"/>
                </a:solidFill>
              </a:rPr>
              <a:t>Off Topic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EF75C77-8EA0-486D-8162-B52D9EBE4FAE}"/>
              </a:ext>
            </a:extLst>
          </p:cNvPr>
          <p:cNvSpPr>
            <a:spLocks noGrp="1"/>
          </p:cNvSpPr>
          <p:nvPr/>
        </p:nvSpPr>
        <p:spPr>
          <a:xfrm>
            <a:off x="8343900" y="54673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Safe redirection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8F5D1E-26C5-42C7-A7E1-506B1C49A952}"/>
              </a:ext>
            </a:extLst>
          </p:cNvPr>
          <p:cNvSpPr>
            <a:spLocks noGrp="1"/>
          </p:cNvSpPr>
          <p:nvPr/>
        </p:nvSpPr>
        <p:spPr>
          <a:xfrm>
            <a:off x="7924800" y="5715000"/>
            <a:ext cx="3333750" cy="9525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9702C37-A1E2-4FC5-9C8D-F1FBB2A2B09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2476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191A6"/>
                </a:solidFill>
              </a:defRPr>
            </a:pPr>
            <a:r>
              <a:rPr sz="675" b="1">
                <a:solidFill>
                  <a:srgbClr val="8191A6"/>
                </a:solidFill>
              </a:rPr>
              <a:t>SMART REAL ESTATE SYSTEM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4DACCF-35F7-4FC7-B6B0-305AC07E57B6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8191A6"/>
                </a:solidFill>
              </a:defRPr>
            </a:pPr>
            <a:r>
              <a:rPr sz="750" b="1">
                <a:solidFill>
                  <a:srgbClr val="8191A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04155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20561FE-9633-41F9-8966-4A8CC54E80B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C7C8C"/>
                </a:solidFill>
              </a:defRPr>
            </a:pPr>
            <a:r>
              <a:rPr sz="900" b="1">
                <a:solidFill>
                  <a:srgbClr val="1C7C8C"/>
                </a:solidFill>
              </a:rPr>
              <a:t>FLOW INTEGRATIONS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1D7581A-0830-4082-9B06-0C022BC6F683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63A5F"/>
                </a:solidFill>
              </a:defRPr>
            </a:pPr>
            <a:r>
              <a:rPr sz="2700" b="1">
                <a:solidFill>
                  <a:srgbClr val="163A5F"/>
                </a:solidFill>
              </a:rPr>
              <a:t>Four Agentforce actions connect conversation to CRM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17E05A-1DFD-4766-83E6-861AAE26DD5E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742950" cy="47625"/>
          </a:xfrm>
          <a:prstGeom prst="rect">
            <a:avLst/>
          </a:prstGeom>
          <a:solidFill>
            <a:srgbClr val="1C7C8C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C4E6BD9-02F1-48F7-90B0-74A76D7F197D}"/>
              </a:ext>
            </a:extLst>
          </p:cNvPr>
          <p:cNvSpPr>
            <a:spLocks noGrp="1"/>
          </p:cNvSpPr>
          <p:nvPr/>
        </p:nvSpPr>
        <p:spPr>
          <a:xfrm>
            <a:off x="552450" y="1524000"/>
            <a:ext cx="6972300" cy="4552950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945831"/>
            <a:ext cx="6705600" cy="3709289"/>
          </a:xfrm>
          <a:prstGeom prst="roundRect">
            <a:avLst>
              <a:gd name="adj" fmla="val 2667"/>
            </a:avLst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451878-E06E-4234-9A38-B3A753E5BBBA}"/>
              </a:ext>
            </a:extLst>
          </p:cNvPr>
          <p:cNvSpPr>
            <a:spLocks noGrp="1"/>
          </p:cNvSpPr>
          <p:nvPr/>
        </p:nvSpPr>
        <p:spPr>
          <a:xfrm>
            <a:off x="7772400" y="1524000"/>
            <a:ext cx="3867150" cy="4552950"/>
          </a:xfrm>
          <a:prstGeom prst="roundRect">
            <a:avLst>
              <a:gd name="adj" fmla="val 3941"/>
            </a:avLst>
          </a:prstGeom>
          <a:solidFill>
            <a:srgbClr val="163A5F"/>
          </a:solidFill>
          <a:ln w="9525">
            <a:solidFill>
              <a:srgbClr val="163A5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F31FB2-8E9B-410E-AA36-A46EC85EDE06}"/>
              </a:ext>
            </a:extLst>
          </p:cNvPr>
          <p:cNvSpPr>
            <a:spLocks noGrp="1"/>
          </p:cNvSpPr>
          <p:nvPr/>
        </p:nvSpPr>
        <p:spPr>
          <a:xfrm>
            <a:off x="8058150" y="18097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9ED8E1"/>
                </a:solidFill>
              </a:defRPr>
            </a:pPr>
            <a:r>
              <a:rPr sz="975" b="1">
                <a:solidFill>
                  <a:srgbClr val="9ED8E1"/>
                </a:solidFill>
              </a:rPr>
              <a:t>ACTION TO FLOW MAPPING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432CBD-C6E5-41F8-B551-C3F526A75A49}"/>
              </a:ext>
            </a:extLst>
          </p:cNvPr>
          <p:cNvSpPr>
            <a:spLocks noGrp="1"/>
          </p:cNvSpPr>
          <p:nvPr/>
        </p:nvSpPr>
        <p:spPr>
          <a:xfrm>
            <a:off x="8058150" y="22479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Get Property Details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24444A-8626-4B9D-A624-1B158D7639E5}"/>
              </a:ext>
            </a:extLst>
          </p:cNvPr>
          <p:cNvSpPr>
            <a:spLocks noGrp="1"/>
          </p:cNvSpPr>
          <p:nvPr/>
        </p:nvSpPr>
        <p:spPr>
          <a:xfrm>
            <a:off x="8058150" y="25146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BFD3E5"/>
                </a:solidFill>
              </a:defRPr>
            </a:pPr>
            <a:r>
              <a:rPr sz="1050" b="0">
                <a:solidFill>
                  <a:srgbClr val="BFD3E5"/>
                </a:solidFill>
              </a:rPr>
              <a:t>Search Available Properties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C9F68F-5E8D-4D6E-AC5F-A1E2E9CE198B}"/>
              </a:ext>
            </a:extLst>
          </p:cNvPr>
          <p:cNvSpPr>
            <a:spLocks noGrp="1"/>
          </p:cNvSpPr>
          <p:nvPr/>
        </p:nvSpPr>
        <p:spPr>
          <a:xfrm>
            <a:off x="8058150" y="2838450"/>
            <a:ext cx="3105150" cy="9525"/>
          </a:xfrm>
          <a:prstGeom prst="rect">
            <a:avLst/>
          </a:prstGeom>
          <a:solidFill>
            <a:srgbClr val="315776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2EC91B-50C9-4860-97BF-5652722889C4}"/>
              </a:ext>
            </a:extLst>
          </p:cNvPr>
          <p:cNvSpPr>
            <a:spLocks noGrp="1"/>
          </p:cNvSpPr>
          <p:nvPr/>
        </p:nvSpPr>
        <p:spPr>
          <a:xfrm>
            <a:off x="8058150" y="30480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Update Lead Preferences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B5C136-096B-468A-B4DD-FEE8A6F13F78}"/>
              </a:ext>
            </a:extLst>
          </p:cNvPr>
          <p:cNvSpPr>
            <a:spLocks noGrp="1"/>
          </p:cNvSpPr>
          <p:nvPr/>
        </p:nvSpPr>
        <p:spPr>
          <a:xfrm>
            <a:off x="8058150" y="33147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BFD3E5"/>
                </a:solidFill>
              </a:defRPr>
            </a:pPr>
            <a:r>
              <a:rPr sz="1050" b="0">
                <a:solidFill>
                  <a:srgbClr val="BFD3E5"/>
                </a:solidFill>
              </a:rPr>
              <a:t>Update Lead Preferences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D4C866-8E6C-4B49-A565-50AD09FEB43D}"/>
              </a:ext>
            </a:extLst>
          </p:cNvPr>
          <p:cNvSpPr>
            <a:spLocks noGrp="1"/>
          </p:cNvSpPr>
          <p:nvPr/>
        </p:nvSpPr>
        <p:spPr>
          <a:xfrm>
            <a:off x="8058150" y="3638550"/>
            <a:ext cx="3105150" cy="9525"/>
          </a:xfrm>
          <a:prstGeom prst="rect">
            <a:avLst/>
          </a:prstGeom>
          <a:solidFill>
            <a:srgbClr val="315776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39BDDC-DB59-4085-840C-604F24703FFB}"/>
              </a:ext>
            </a:extLst>
          </p:cNvPr>
          <p:cNvSpPr>
            <a:spLocks noGrp="1"/>
          </p:cNvSpPr>
          <p:nvPr/>
        </p:nvSpPr>
        <p:spPr>
          <a:xfrm>
            <a:off x="8058150" y="38481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Check Agent Availability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FA6C0E-E30A-42C0-9B93-22DD455FCAB8}"/>
              </a:ext>
            </a:extLst>
          </p:cNvPr>
          <p:cNvSpPr>
            <a:spLocks noGrp="1"/>
          </p:cNvSpPr>
          <p:nvPr/>
        </p:nvSpPr>
        <p:spPr>
          <a:xfrm>
            <a:off x="8058150" y="41148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BFD3E5"/>
                </a:solidFill>
              </a:defRPr>
            </a:pPr>
            <a:r>
              <a:rPr sz="1050" b="0">
                <a:solidFill>
                  <a:srgbClr val="BFD3E5"/>
                </a:solidFill>
              </a:rPr>
              <a:t>Check Agent Availability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497C7A-6426-4828-9B02-83DBD7731BCA}"/>
              </a:ext>
            </a:extLst>
          </p:cNvPr>
          <p:cNvSpPr>
            <a:spLocks noGrp="1"/>
          </p:cNvSpPr>
          <p:nvPr/>
        </p:nvSpPr>
        <p:spPr>
          <a:xfrm>
            <a:off x="8058150" y="4438650"/>
            <a:ext cx="3105150" cy="9525"/>
          </a:xfrm>
          <a:prstGeom prst="rect">
            <a:avLst/>
          </a:prstGeom>
          <a:solidFill>
            <a:srgbClr val="315776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1373C0-5405-480A-8D40-5D41BC7E3730}"/>
              </a:ext>
            </a:extLst>
          </p:cNvPr>
          <p:cNvSpPr>
            <a:spLocks noGrp="1"/>
          </p:cNvSpPr>
          <p:nvPr/>
        </p:nvSpPr>
        <p:spPr>
          <a:xfrm>
            <a:off x="8058150" y="46482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Create Showing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53431A-90DE-4A35-A308-B92F6265DA97}"/>
              </a:ext>
            </a:extLst>
          </p:cNvPr>
          <p:cNvSpPr>
            <a:spLocks noGrp="1"/>
          </p:cNvSpPr>
          <p:nvPr/>
        </p:nvSpPr>
        <p:spPr>
          <a:xfrm>
            <a:off x="8058150" y="49149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BFD3E5"/>
                </a:solidFill>
              </a:defRPr>
            </a:pPr>
            <a:r>
              <a:rPr sz="1050" b="0">
                <a:solidFill>
                  <a:srgbClr val="BFD3E5"/>
                </a:solidFill>
              </a:rPr>
              <a:t>Create Showing From Agent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08F3DA-B7E0-48BB-8450-04B3F751B395}"/>
              </a:ext>
            </a:extLst>
          </p:cNvPr>
          <p:cNvSpPr>
            <a:spLocks noGrp="1"/>
          </p:cNvSpPr>
          <p:nvPr/>
        </p:nvSpPr>
        <p:spPr>
          <a:xfrm>
            <a:off x="8058150" y="5238750"/>
            <a:ext cx="3105150" cy="9525"/>
          </a:xfrm>
          <a:prstGeom prst="rect">
            <a:avLst/>
          </a:prstGeom>
          <a:solidFill>
            <a:srgbClr val="315776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4CD111-149C-4633-A0F1-925F0429784C}"/>
              </a:ext>
            </a:extLst>
          </p:cNvPr>
          <p:cNvSpPr>
            <a:spLocks noGrp="1"/>
          </p:cNvSpPr>
          <p:nvPr/>
        </p:nvSpPr>
        <p:spPr>
          <a:xfrm>
            <a:off x="8058150" y="5429250"/>
            <a:ext cx="3105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DCEAF6"/>
                </a:solidFill>
              </a:defRPr>
            </a:pPr>
            <a:r>
              <a:rPr sz="1050" b="0">
                <a:solidFill>
                  <a:srgbClr val="DCEAF6"/>
                </a:solidFill>
              </a:rPr>
              <a:t>Business failures are returned as structured messages through Decisions and Assignments where implemented.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286EAD-B81A-410A-BFB0-F2B22AF01B98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2476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191A6"/>
                </a:solidFill>
              </a:defRPr>
            </a:pPr>
            <a:r>
              <a:rPr sz="675" b="1">
                <a:solidFill>
                  <a:srgbClr val="8191A6"/>
                </a:solidFill>
              </a:rPr>
              <a:t>SMART REAL ESTATE SYSTEM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F3267C-BD9E-4CAB-AEA1-097BB218EB1C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8191A6"/>
                </a:solidFill>
              </a:defRPr>
            </a:pPr>
            <a:r>
              <a:rPr sz="750" b="1">
                <a:solidFill>
                  <a:srgbClr val="8191A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86369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EDB1FA5-ABB6-49DB-B4DC-FE3C791A568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C7C8C"/>
                </a:solidFill>
              </a:defRPr>
            </a:pPr>
            <a:r>
              <a:rPr sz="900" b="1">
                <a:solidFill>
                  <a:srgbClr val="1C7C8C"/>
                </a:solidFill>
              </a:rPr>
              <a:t>CUSTOM LWC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6433AC6-E13F-4DDF-AD6F-D73D41AD3004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63A5F"/>
                </a:solidFill>
              </a:defRPr>
            </a:pPr>
            <a:r>
              <a:rPr sz="2700" b="1">
                <a:solidFill>
                  <a:srgbClr val="163A5F"/>
                </a:solidFill>
              </a:rPr>
              <a:t>A responsive property summary keeps key facts visible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A5E981-2E63-4F29-83D5-11438953F70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742950" cy="47625"/>
          </a:xfrm>
          <a:prstGeom prst="rect">
            <a:avLst/>
          </a:prstGeom>
          <a:solidFill>
            <a:srgbClr val="1C7C8C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A2CD20-151A-4508-BD2F-265289470021}"/>
              </a:ext>
            </a:extLst>
          </p:cNvPr>
          <p:cNvSpPr>
            <a:spLocks noGrp="1"/>
          </p:cNvSpPr>
          <p:nvPr/>
        </p:nvSpPr>
        <p:spPr>
          <a:xfrm>
            <a:off x="552450" y="1524000"/>
            <a:ext cx="11087100" cy="4476750"/>
          </a:xfrm>
          <a:prstGeom prst="roundRect">
            <a:avLst>
              <a:gd name="adj" fmla="val 3404"/>
            </a:avLst>
          </a:prstGeom>
          <a:solidFill>
            <a:srgbClr val="F5F8FC"/>
          </a:solidFill>
          <a:ln w="9525">
            <a:solidFill>
              <a:srgbClr val="D8E3EE"/>
            </a:solidFill>
            <a:prstDash val="solid"/>
          </a:ln>
        </p:spPr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07341" y="1657350"/>
            <a:ext cx="6777318" cy="4000500"/>
          </a:xfrm>
          <a:prstGeom prst="roundRect">
            <a:avLst>
              <a:gd name="adj" fmla="val 2857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73D66C8-3D6C-413C-A220-34BCD7A9FCF9}"/>
              </a:ext>
            </a:extLst>
          </p:cNvPr>
          <p:cNvSpPr>
            <a:spLocks noGrp="1"/>
          </p:cNvSpPr>
          <p:nvPr/>
        </p:nvSpPr>
        <p:spPr>
          <a:xfrm>
            <a:off x="876300" y="57340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C7C8C"/>
                </a:solidFill>
              </a:defRPr>
            </a:pPr>
            <a:r>
              <a:rPr sz="1125" b="1">
                <a:solidFill>
                  <a:srgbClr val="1C7C8C"/>
                </a:solidFill>
              </a:rPr>
              <a:t>Reusable component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187023-AB1B-4C7E-AF22-B2464D9606F4}"/>
              </a:ext>
            </a:extLst>
          </p:cNvPr>
          <p:cNvSpPr>
            <a:spLocks noGrp="1"/>
          </p:cNvSpPr>
          <p:nvPr/>
        </p:nvSpPr>
        <p:spPr>
          <a:xfrm>
            <a:off x="2914650" y="5715000"/>
            <a:ext cx="819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63A5F"/>
                </a:solidFill>
              </a:defRPr>
            </a:pPr>
            <a:r>
              <a:rPr sz="1275" b="1">
                <a:solidFill>
                  <a:srgbClr val="163A5F"/>
                </a:solidFill>
              </a:rPr>
              <a:t>Price, city, type, bedrooms, bathrooms, and status adapt across form factors.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F0BC1C-8C91-41BD-9146-69CCF7EE4DE6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2476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191A6"/>
                </a:solidFill>
              </a:defRPr>
            </a:pPr>
            <a:r>
              <a:rPr sz="675" b="1">
                <a:solidFill>
                  <a:srgbClr val="8191A6"/>
                </a:solidFill>
              </a:rPr>
              <a:t>SMART REAL ESTATE SYSTEM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C0D732-8C02-415A-822F-91E617EE39AE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8191A6"/>
                </a:solidFill>
              </a:defRPr>
            </a:pPr>
            <a:r>
              <a:rPr sz="750" b="1">
                <a:solidFill>
                  <a:srgbClr val="8191A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54597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1A8C3D04-E0C5-4097-B435-A160F62117D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C7C8C"/>
                </a:solidFill>
              </a:defRPr>
            </a:pPr>
            <a:r>
              <a:rPr sz="900" b="1">
                <a:solidFill>
                  <a:srgbClr val="1C7C8C"/>
                </a:solidFill>
              </a:rPr>
              <a:t>SECURITY AND GOVERNANCE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439E4E0-E21D-4F9A-8706-390946FB8BD0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63A5F"/>
                </a:solidFill>
              </a:defRPr>
            </a:pPr>
            <a:r>
              <a:rPr sz="2700" b="1">
                <a:solidFill>
                  <a:srgbClr val="163A5F"/>
                </a:solidFill>
              </a:rPr>
              <a:t>Access is role-based, field-aware, and least-privilege oriented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FE79D4-285A-431D-88F9-6D44B0330B00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742950" cy="47625"/>
          </a:xfrm>
          <a:prstGeom prst="rect">
            <a:avLst/>
          </a:prstGeom>
          <a:solidFill>
            <a:srgbClr val="1C7C8C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70297C4-DE56-4B6E-A2ED-D5B6BBDB007A}"/>
              </a:ext>
            </a:extLst>
          </p:cNvPr>
          <p:cNvSpPr>
            <a:spLocks noGrp="1"/>
          </p:cNvSpPr>
          <p:nvPr/>
        </p:nvSpPr>
        <p:spPr>
          <a:xfrm>
            <a:off x="552450" y="1524000"/>
            <a:ext cx="7181850" cy="447675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695640"/>
            <a:ext cx="6915150" cy="3180969"/>
          </a:xfrm>
          <a:prstGeom prst="roundRect">
            <a:avLst>
              <a:gd name="adj" fmla="val 3509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994ABAF-8B34-4973-BCB4-A3A21F0D2B89}"/>
              </a:ext>
            </a:extLst>
          </p:cNvPr>
          <p:cNvSpPr>
            <a:spLocks noGrp="1"/>
          </p:cNvSpPr>
          <p:nvPr/>
        </p:nvSpPr>
        <p:spPr>
          <a:xfrm>
            <a:off x="876300" y="51054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6F42C1"/>
                </a:solidFill>
              </a:defRPr>
            </a:pPr>
            <a:r>
              <a:rPr sz="1200" b="1">
                <a:solidFill>
                  <a:srgbClr val="6F42C1"/>
                </a:solidFill>
              </a:rPr>
              <a:t>Manager Notes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4EAD7E-987E-49C1-B790-5AA8730C0C55}"/>
              </a:ext>
            </a:extLst>
          </p:cNvPr>
          <p:cNvSpPr>
            <a:spLocks noGrp="1"/>
          </p:cNvSpPr>
          <p:nvPr/>
        </p:nvSpPr>
        <p:spPr>
          <a:xfrm>
            <a:off x="2381250" y="50863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163A5F"/>
                </a:solidFill>
              </a:defRPr>
            </a:pPr>
            <a:r>
              <a:rPr sz="1275" b="1">
                <a:solidFill>
                  <a:srgbClr val="163A5F"/>
                </a:solidFill>
              </a:rPr>
              <a:t>Editable for managers; unavailable to standard sales users.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B5F35B-925F-45AF-BD84-0F491098BFBC}"/>
              </a:ext>
            </a:extLst>
          </p:cNvPr>
          <p:cNvSpPr>
            <a:spLocks noGrp="1"/>
          </p:cNvSpPr>
          <p:nvPr/>
        </p:nvSpPr>
        <p:spPr>
          <a:xfrm>
            <a:off x="876300" y="5486400"/>
            <a:ext cx="647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Permission sets distinguish CRUD access without View All or Modify All privileges.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CD3A4C1-74A1-454A-89F7-2C72F79B967A}"/>
              </a:ext>
            </a:extLst>
          </p:cNvPr>
          <p:cNvSpPr>
            <a:spLocks noGrp="1"/>
          </p:cNvSpPr>
          <p:nvPr/>
        </p:nvSpPr>
        <p:spPr>
          <a:xfrm>
            <a:off x="7981950" y="1524000"/>
            <a:ext cx="3657600" cy="4476750"/>
          </a:xfrm>
          <a:prstGeom prst="roundRect">
            <a:avLst>
              <a:gd name="adj" fmla="val 4167"/>
            </a:avLst>
          </a:prstGeom>
          <a:solidFill>
            <a:srgbClr val="163A5F"/>
          </a:solidFill>
          <a:ln w="9525">
            <a:solidFill>
              <a:srgbClr val="163A5F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FB32D5-7F65-48DB-B03F-F4297503C399}"/>
              </a:ext>
            </a:extLst>
          </p:cNvPr>
          <p:cNvSpPr>
            <a:spLocks noGrp="1"/>
          </p:cNvSpPr>
          <p:nvPr/>
        </p:nvSpPr>
        <p:spPr>
          <a:xfrm>
            <a:off x="8286750" y="180975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9ED8E1"/>
                </a:solidFill>
              </a:defRPr>
            </a:pPr>
            <a:r>
              <a:rPr sz="975" b="1">
                <a:solidFill>
                  <a:srgbClr val="9ED8E1"/>
                </a:solidFill>
              </a:rPr>
              <a:t>CONTROL LAYERS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471A54F-76E6-484F-8CF5-7642A56933BB}"/>
              </a:ext>
            </a:extLst>
          </p:cNvPr>
          <p:cNvSpPr>
            <a:spLocks noGrp="1"/>
          </p:cNvSpPr>
          <p:nvPr/>
        </p:nvSpPr>
        <p:spPr>
          <a:xfrm>
            <a:off x="8286750" y="22669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C7C8C"/>
          </a:solidFill>
          <a:ln w="9525">
            <a:solidFill>
              <a:srgbClr val="1C7C8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C693D7-80EB-464E-8DE5-78B61BE9A442}"/>
              </a:ext>
            </a:extLst>
          </p:cNvPr>
          <p:cNvSpPr>
            <a:spLocks noGrp="1"/>
          </p:cNvSpPr>
          <p:nvPr/>
        </p:nvSpPr>
        <p:spPr>
          <a:xfrm>
            <a:off x="8343900" y="23431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750FA1-54B3-43B8-8984-96ED15AA2B92}"/>
              </a:ext>
            </a:extLst>
          </p:cNvPr>
          <p:cNvSpPr>
            <a:spLocks noGrp="1"/>
          </p:cNvSpPr>
          <p:nvPr/>
        </p:nvSpPr>
        <p:spPr>
          <a:xfrm>
            <a:off x="8858250" y="233362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Profiles and app access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9D70732-CBB1-414C-94C9-94F27B7B26C2}"/>
              </a:ext>
            </a:extLst>
          </p:cNvPr>
          <p:cNvSpPr>
            <a:spLocks noGrp="1"/>
          </p:cNvSpPr>
          <p:nvPr/>
        </p:nvSpPr>
        <p:spPr>
          <a:xfrm>
            <a:off x="8286750" y="29146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C7C8C"/>
          </a:solidFill>
          <a:ln w="9525">
            <a:solidFill>
              <a:srgbClr val="1C7C8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836B4D-E9BE-4607-866F-832301F939C4}"/>
              </a:ext>
            </a:extLst>
          </p:cNvPr>
          <p:cNvSpPr>
            <a:spLocks noGrp="1"/>
          </p:cNvSpPr>
          <p:nvPr/>
        </p:nvSpPr>
        <p:spPr>
          <a:xfrm>
            <a:off x="8343900" y="2990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DD928B-0634-40FB-B322-CF03F6754F68}"/>
              </a:ext>
            </a:extLst>
          </p:cNvPr>
          <p:cNvSpPr>
            <a:spLocks noGrp="1"/>
          </p:cNvSpPr>
          <p:nvPr/>
        </p:nvSpPr>
        <p:spPr>
          <a:xfrm>
            <a:off x="8858250" y="298132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Object permissions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FBEC8C1-9D01-401E-929B-24FE6F1CB915}"/>
              </a:ext>
            </a:extLst>
          </p:cNvPr>
          <p:cNvSpPr>
            <a:spLocks noGrp="1"/>
          </p:cNvSpPr>
          <p:nvPr/>
        </p:nvSpPr>
        <p:spPr>
          <a:xfrm>
            <a:off x="8286750" y="35623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C7C8C"/>
          </a:solidFill>
          <a:ln w="9525">
            <a:solidFill>
              <a:srgbClr val="1C7C8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132716-9EBD-4828-BB17-88BBA5AB776F}"/>
              </a:ext>
            </a:extLst>
          </p:cNvPr>
          <p:cNvSpPr>
            <a:spLocks noGrp="1"/>
          </p:cNvSpPr>
          <p:nvPr/>
        </p:nvSpPr>
        <p:spPr>
          <a:xfrm>
            <a:off x="8343900" y="36385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2ECF08-CA54-4E84-A5F4-65F149BF8863}"/>
              </a:ext>
            </a:extLst>
          </p:cNvPr>
          <p:cNvSpPr>
            <a:spLocks noGrp="1"/>
          </p:cNvSpPr>
          <p:nvPr/>
        </p:nvSpPr>
        <p:spPr>
          <a:xfrm>
            <a:off x="8858250" y="362902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Field-level security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856A40C-285A-40F8-850E-58355091C8C7}"/>
              </a:ext>
            </a:extLst>
          </p:cNvPr>
          <p:cNvSpPr>
            <a:spLocks noGrp="1"/>
          </p:cNvSpPr>
          <p:nvPr/>
        </p:nvSpPr>
        <p:spPr>
          <a:xfrm>
            <a:off x="8286750" y="42100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C7C8C"/>
          </a:solidFill>
          <a:ln w="9525">
            <a:solidFill>
              <a:srgbClr val="1C7C8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EC7039-6D37-4AA2-87D1-C09516B8E8C5}"/>
              </a:ext>
            </a:extLst>
          </p:cNvPr>
          <p:cNvSpPr>
            <a:spLocks noGrp="1"/>
          </p:cNvSpPr>
          <p:nvPr/>
        </p:nvSpPr>
        <p:spPr>
          <a:xfrm>
            <a:off x="8343900" y="42862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00FEFF-1823-4A17-BE5E-F33BC7E97E11}"/>
              </a:ext>
            </a:extLst>
          </p:cNvPr>
          <p:cNvSpPr>
            <a:spLocks noGrp="1"/>
          </p:cNvSpPr>
          <p:nvPr/>
        </p:nvSpPr>
        <p:spPr>
          <a:xfrm>
            <a:off x="8858250" y="427672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Validation rules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5D4A93F-B50F-46F2-A098-F19F6B7A50C1}"/>
              </a:ext>
            </a:extLst>
          </p:cNvPr>
          <p:cNvSpPr>
            <a:spLocks noGrp="1"/>
          </p:cNvSpPr>
          <p:nvPr/>
        </p:nvSpPr>
        <p:spPr>
          <a:xfrm>
            <a:off x="8286750" y="485775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1C7C8C"/>
          </a:solidFill>
          <a:ln w="9525">
            <a:solidFill>
              <a:srgbClr val="1C7C8C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E9E33B-F210-4975-8ABA-EE5C2A14A897}"/>
              </a:ext>
            </a:extLst>
          </p:cNvPr>
          <p:cNvSpPr>
            <a:spLocks noGrp="1"/>
          </p:cNvSpPr>
          <p:nvPr/>
        </p:nvSpPr>
        <p:spPr>
          <a:xfrm>
            <a:off x="8343900" y="49339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4AC504-CF77-475F-B9B9-D4AF3AD3B6E8}"/>
              </a:ext>
            </a:extLst>
          </p:cNvPr>
          <p:cNvSpPr>
            <a:spLocks noGrp="1"/>
          </p:cNvSpPr>
          <p:nvPr/>
        </p:nvSpPr>
        <p:spPr>
          <a:xfrm>
            <a:off x="8858250" y="4924425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Human escalation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6C1FDF-CB7B-48C8-BF2F-0AE567CF4D25}"/>
              </a:ext>
            </a:extLst>
          </p:cNvPr>
          <p:cNvSpPr>
            <a:spLocks noGrp="1"/>
          </p:cNvSpPr>
          <p:nvPr/>
        </p:nvSpPr>
        <p:spPr>
          <a:xfrm>
            <a:off x="8286750" y="546735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>
                <a:solidFill>
                  <a:srgbClr val="BFD3E5"/>
                </a:solidFill>
              </a:defRPr>
            </a:pPr>
            <a:r>
              <a:rPr sz="975" b="0">
                <a:solidFill>
                  <a:srgbClr val="BFD3E5"/>
                </a:solidFill>
              </a:rPr>
              <a:t>Flow execution mode is documented separately and should be reviewed during production hardening.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B8A048-DB26-4C0A-99BF-FD29F091EABF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2476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191A6"/>
                </a:solidFill>
              </a:defRPr>
            </a:pPr>
            <a:r>
              <a:rPr sz="675" b="1">
                <a:solidFill>
                  <a:srgbClr val="8191A6"/>
                </a:solidFill>
              </a:rPr>
              <a:t>SMART REAL ESTATE SYSTEM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3BC59C-7A0B-485F-8948-457198EEC663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8191A6"/>
                </a:solidFill>
              </a:defRPr>
            </a:pPr>
            <a:r>
              <a:rPr sz="750" b="1">
                <a:solidFill>
                  <a:srgbClr val="8191A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71149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00CB190-CFFB-4877-8EC5-7A0863F7737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C7C8C"/>
                </a:solidFill>
              </a:defRPr>
            </a:pPr>
            <a:r>
              <a:rPr sz="900" b="1">
                <a:solidFill>
                  <a:srgbClr val="1C7C8C"/>
                </a:solidFill>
              </a:rPr>
              <a:t>REPORTS AND DASHBOARD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9771E67-60CD-453C-96E6-342D1AA6E8B9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63A5F"/>
                </a:solidFill>
              </a:defRPr>
            </a:pPr>
            <a:r>
              <a:rPr sz="2700" b="1">
                <a:solidFill>
                  <a:srgbClr val="163A5F"/>
                </a:solidFill>
              </a:rPr>
              <a:t>One dashboard aligns inventory, funnel, offers, and showings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D1C702-7C72-48DF-A47B-E9DDB3118DE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742950" cy="47625"/>
          </a:xfrm>
          <a:prstGeom prst="rect">
            <a:avLst/>
          </a:prstGeom>
          <a:solidFill>
            <a:srgbClr val="1C7C8C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44CBF39-976F-4F77-9B7C-9503B838FBB7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87100" cy="4686300"/>
          </a:xfrm>
          <a:prstGeom prst="roundRect">
            <a:avLst>
              <a:gd name="adj" fmla="val 3252"/>
            </a:avLst>
          </a:prstGeom>
          <a:solidFill>
            <a:srgbClr val="F5F8FC"/>
          </a:solidFill>
          <a:ln w="9525">
            <a:solidFill>
              <a:srgbClr val="D8E3EE"/>
            </a:solidFill>
            <a:prstDash val="solid"/>
          </a:ln>
        </p:spPr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rcRect t="15341" b="15341"/>
          <a:stretch>
            <a:fillRect/>
          </a:stretch>
        </p:blipFill>
        <p:spPr>
          <a:xfrm>
            <a:off x="685800" y="1600200"/>
            <a:ext cx="7239000" cy="4419600"/>
          </a:xfrm>
          <a:prstGeom prst="roundRect">
            <a:avLst>
              <a:gd name="adj" fmla="val 2586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3772EB0-69DC-496D-ABD0-16CBA3411137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C7C8C"/>
                </a:solidFill>
              </a:defRPr>
            </a:pPr>
            <a:r>
              <a:rPr sz="975" b="1">
                <a:solidFill>
                  <a:srgbClr val="1C7C8C"/>
                </a:solidFill>
              </a:rPr>
              <a:t>VISIBLE OPERATING SIGNALS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DCEC8C-67B9-47A3-B0FC-CED1225A0E7C}"/>
              </a:ext>
            </a:extLst>
          </p:cNvPr>
          <p:cNvSpPr>
            <a:spLocks noGrp="1"/>
          </p:cNvSpPr>
          <p:nvPr/>
        </p:nvSpPr>
        <p:spPr>
          <a:xfrm>
            <a:off x="8248650" y="20955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C28B3C-1365-42AA-AFAE-B55DBF12C593}"/>
              </a:ext>
            </a:extLst>
          </p:cNvPr>
          <p:cNvSpPr>
            <a:spLocks noGrp="1"/>
          </p:cNvSpPr>
          <p:nvPr/>
        </p:nvSpPr>
        <p:spPr>
          <a:xfrm>
            <a:off x="8391525" y="217170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82EFBB-5930-4DC6-B6C0-99845F6E7A0F}"/>
              </a:ext>
            </a:extLst>
          </p:cNvPr>
          <p:cNvSpPr>
            <a:spLocks noGrp="1"/>
          </p:cNvSpPr>
          <p:nvPr/>
        </p:nvSpPr>
        <p:spPr>
          <a:xfrm>
            <a:off x="8877300" y="2076450"/>
            <a:ext cx="2419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63A5F"/>
                </a:solidFill>
              </a:defRPr>
            </a:pPr>
            <a:r>
              <a:rPr sz="1500" b="1">
                <a:solidFill>
                  <a:srgbClr val="163A5F"/>
                </a:solidFill>
              </a:rPr>
              <a:t>Inventory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CC590E-A8E5-4390-901A-6F9C01AAE9EA}"/>
              </a:ext>
            </a:extLst>
          </p:cNvPr>
          <p:cNvSpPr>
            <a:spLocks noGrp="1"/>
          </p:cNvSpPr>
          <p:nvPr/>
        </p:nvSpPr>
        <p:spPr>
          <a:xfrm>
            <a:off x="8877300" y="2390775"/>
            <a:ext cx="2419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Available properties by city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1102871-1E67-4F26-A2B9-F250F9A5E20A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6F42C1"/>
          </a:solidFill>
          <a:ln w="9525">
            <a:solidFill>
              <a:srgbClr val="6F42C1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CCA33-8C3B-4C94-95F5-693621F0AD6D}"/>
              </a:ext>
            </a:extLst>
          </p:cNvPr>
          <p:cNvSpPr>
            <a:spLocks noGrp="1"/>
          </p:cNvSpPr>
          <p:nvPr/>
        </p:nvSpPr>
        <p:spPr>
          <a:xfrm>
            <a:off x="8391525" y="30289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A21D63-2D22-4AB5-9CEA-6CFA934DB14B}"/>
              </a:ext>
            </a:extLst>
          </p:cNvPr>
          <p:cNvSpPr>
            <a:spLocks noGrp="1"/>
          </p:cNvSpPr>
          <p:nvPr/>
        </p:nvSpPr>
        <p:spPr>
          <a:xfrm>
            <a:off x="8877300" y="2933700"/>
            <a:ext cx="2419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63A5F"/>
                </a:solidFill>
              </a:defRPr>
            </a:pPr>
            <a:r>
              <a:rPr sz="1500" b="1">
                <a:solidFill>
                  <a:srgbClr val="163A5F"/>
                </a:solidFill>
              </a:rPr>
              <a:t>Lead funnel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A211B5-E03A-460C-B810-6F1A8C556AE1}"/>
              </a:ext>
            </a:extLst>
          </p:cNvPr>
          <p:cNvSpPr>
            <a:spLocks noGrp="1"/>
          </p:cNvSpPr>
          <p:nvPr/>
        </p:nvSpPr>
        <p:spPr>
          <a:xfrm>
            <a:off x="8877300" y="3248025"/>
            <a:ext cx="2419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Hot, qualified, and nurture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ADDDAB9-8C54-49ED-85CD-532B1CC95F22}"/>
              </a:ext>
            </a:extLst>
          </p:cNvPr>
          <p:cNvSpPr>
            <a:spLocks noGrp="1"/>
          </p:cNvSpPr>
          <p:nvPr/>
        </p:nvSpPr>
        <p:spPr>
          <a:xfrm>
            <a:off x="8248650" y="38100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C7C8C"/>
          </a:solidFill>
          <a:ln w="9525">
            <a:solidFill>
              <a:srgbClr val="1C7C8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775160-73D1-4F04-A6A3-5FC0E08B8AC7}"/>
              </a:ext>
            </a:extLst>
          </p:cNvPr>
          <p:cNvSpPr>
            <a:spLocks noGrp="1"/>
          </p:cNvSpPr>
          <p:nvPr/>
        </p:nvSpPr>
        <p:spPr>
          <a:xfrm>
            <a:off x="8391525" y="388620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AA8F15-A5B0-4D3E-90CB-3C9000A89A1E}"/>
              </a:ext>
            </a:extLst>
          </p:cNvPr>
          <p:cNvSpPr>
            <a:spLocks noGrp="1"/>
          </p:cNvSpPr>
          <p:nvPr/>
        </p:nvSpPr>
        <p:spPr>
          <a:xfrm>
            <a:off x="8877300" y="3790950"/>
            <a:ext cx="2419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63A5F"/>
                </a:solidFill>
              </a:defRPr>
            </a:pPr>
            <a:r>
              <a:rPr sz="1500" b="1">
                <a:solidFill>
                  <a:srgbClr val="163A5F"/>
                </a:solidFill>
              </a:rPr>
              <a:t>Offer pipeline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D5F1F4-9706-4B0A-B122-D3106C5CFB2E}"/>
              </a:ext>
            </a:extLst>
          </p:cNvPr>
          <p:cNvSpPr>
            <a:spLocks noGrp="1"/>
          </p:cNvSpPr>
          <p:nvPr/>
        </p:nvSpPr>
        <p:spPr>
          <a:xfrm>
            <a:off x="8877300" y="4105275"/>
            <a:ext cx="2419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Status and submitted amount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AB576C3-37A3-4E47-B862-7F1485737EB6}"/>
              </a:ext>
            </a:extLst>
          </p:cNvPr>
          <p:cNvSpPr>
            <a:spLocks noGrp="1"/>
          </p:cNvSpPr>
          <p:nvPr/>
        </p:nvSpPr>
        <p:spPr>
          <a:xfrm>
            <a:off x="8248650" y="46672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B68A22"/>
          </a:solidFill>
          <a:ln w="9525">
            <a:solidFill>
              <a:srgbClr val="B68A22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4942DE-995D-4746-A0DE-441E8216B15A}"/>
              </a:ext>
            </a:extLst>
          </p:cNvPr>
          <p:cNvSpPr>
            <a:spLocks noGrp="1"/>
          </p:cNvSpPr>
          <p:nvPr/>
        </p:nvSpPr>
        <p:spPr>
          <a:xfrm>
            <a:off x="8391525" y="4743450"/>
            <a:ext cx="209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FEAC40-999D-4CDC-B759-3C1A5CA8E98D}"/>
              </a:ext>
            </a:extLst>
          </p:cNvPr>
          <p:cNvSpPr>
            <a:spLocks noGrp="1"/>
          </p:cNvSpPr>
          <p:nvPr/>
        </p:nvSpPr>
        <p:spPr>
          <a:xfrm>
            <a:off x="8877300" y="4648200"/>
            <a:ext cx="2419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63A5F"/>
                </a:solidFill>
              </a:defRPr>
            </a:pPr>
            <a:r>
              <a:rPr sz="1500" b="1">
                <a:solidFill>
                  <a:srgbClr val="163A5F"/>
                </a:solidFill>
              </a:rPr>
              <a:t>Showings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5F9296-D924-4F57-8BC0-31688067C9D4}"/>
              </a:ext>
            </a:extLst>
          </p:cNvPr>
          <p:cNvSpPr>
            <a:spLocks noGrp="1"/>
          </p:cNvSpPr>
          <p:nvPr/>
        </p:nvSpPr>
        <p:spPr>
          <a:xfrm>
            <a:off x="8877300" y="4962525"/>
            <a:ext cx="2419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667085"/>
                </a:solidFill>
              </a:defRPr>
            </a:pPr>
            <a:r>
              <a:rPr sz="1125" b="0">
                <a:solidFill>
                  <a:srgbClr val="667085"/>
                </a:solidFill>
              </a:rPr>
              <a:t>Agent workload and status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139676-A8F0-4FB9-9663-856C714A23DC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2476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191A6"/>
                </a:solidFill>
              </a:defRPr>
            </a:pPr>
            <a:r>
              <a:rPr sz="675" b="1">
                <a:solidFill>
                  <a:srgbClr val="8191A6"/>
                </a:solidFill>
              </a:rPr>
              <a:t>SMART REAL ESTATE SYSTEM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380D3E-1D50-449A-A68F-816AADDE1890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8191A6"/>
                </a:solidFill>
              </a:defRPr>
            </a:pPr>
            <a:r>
              <a:rPr sz="750" b="1">
                <a:solidFill>
                  <a:srgbClr val="8191A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65639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31BCB58-A705-44C5-B59A-0BDE80F11B9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C7C8C"/>
                </a:solidFill>
              </a:defRPr>
            </a:pPr>
            <a:r>
              <a:rPr sz="900" b="1">
                <a:solidFill>
                  <a:srgbClr val="1C7C8C"/>
                </a:solidFill>
              </a:rPr>
              <a:t>TESTING RESULTS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117AA68-D5DD-4197-830E-7AF8C9408A94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63A5F"/>
                </a:solidFill>
              </a:defRPr>
            </a:pPr>
            <a:r>
              <a:rPr sz="2700" b="1">
                <a:solidFill>
                  <a:srgbClr val="163A5F"/>
                </a:solidFill>
              </a:rPr>
              <a:t>All 13 documented test cases passed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22B328-009B-43B6-BE7A-8739F62CEBCB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742950" cy="47625"/>
          </a:xfrm>
          <a:prstGeom prst="rect">
            <a:avLst/>
          </a:prstGeom>
          <a:solidFill>
            <a:srgbClr val="1C7C8C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75F25B-C51D-4F34-8CF6-3A2103ABB86C}"/>
              </a:ext>
            </a:extLst>
          </p:cNvPr>
          <p:cNvSpPr>
            <a:spLocks noGrp="1"/>
          </p:cNvSpPr>
          <p:nvPr/>
        </p:nvSpPr>
        <p:spPr>
          <a:xfrm>
            <a:off x="552450" y="1524000"/>
            <a:ext cx="2914650" cy="4476750"/>
          </a:xfrm>
          <a:prstGeom prst="roundRect">
            <a:avLst>
              <a:gd name="adj" fmla="val 5229"/>
            </a:avLst>
          </a:prstGeom>
          <a:solidFill>
            <a:srgbClr val="163A5F"/>
          </a:solidFill>
          <a:ln w="9525">
            <a:solidFill>
              <a:srgbClr val="163A5F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2539B7-387E-434F-A2DF-D7506A77D29B}"/>
              </a:ext>
            </a:extLst>
          </p:cNvPr>
          <p:cNvSpPr>
            <a:spLocks noGrp="1"/>
          </p:cNvSpPr>
          <p:nvPr/>
        </p:nvSpPr>
        <p:spPr>
          <a:xfrm>
            <a:off x="838200" y="186690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13 / 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C7A977-1526-4047-9C90-71E2910ADDCA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25" b="1">
                <a:solidFill>
                  <a:srgbClr val="7FE0C3"/>
                </a:solidFill>
              </a:defRPr>
            </a:pPr>
            <a:r>
              <a:rPr sz="2025" b="1">
                <a:solidFill>
                  <a:srgbClr val="7FE0C3"/>
                </a:solidFill>
              </a:rPr>
              <a:t>PASS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8EFB8-9F0A-4B98-9DC7-D02BBB3E00B0}"/>
              </a:ext>
            </a:extLst>
          </p:cNvPr>
          <p:cNvSpPr>
            <a:spLocks noGrp="1"/>
          </p:cNvSpPr>
          <p:nvPr/>
        </p:nvSpPr>
        <p:spPr>
          <a:xfrm>
            <a:off x="857250" y="3105150"/>
            <a:ext cx="2095500" cy="19050"/>
          </a:xfrm>
          <a:prstGeom prst="rect">
            <a:avLst/>
          </a:prstGeom>
          <a:solidFill>
            <a:srgbClr val="315776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D6FCB0-85AD-49EC-B642-4D558D7C33AB}"/>
              </a:ext>
            </a:extLst>
          </p:cNvPr>
          <p:cNvSpPr>
            <a:spLocks noGrp="1"/>
          </p:cNvSpPr>
          <p:nvPr/>
        </p:nvSpPr>
        <p:spPr>
          <a:xfrm>
            <a:off x="857250" y="33528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9ED8E1"/>
                </a:solidFill>
              </a:defRPr>
            </a:pPr>
            <a:r>
              <a:rPr sz="1125" b="1">
                <a:solidFill>
                  <a:srgbClr val="9ED8E1"/>
                </a:solidFill>
              </a:rPr>
              <a:t>Coverage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DD459B-4A1E-477E-8DE6-4E86EB1D0A3E}"/>
              </a:ext>
            </a:extLst>
          </p:cNvPr>
          <p:cNvSpPr>
            <a:spLocks noGrp="1"/>
          </p:cNvSpPr>
          <p:nvPr/>
        </p:nvSpPr>
        <p:spPr>
          <a:xfrm>
            <a:off x="857250" y="3676650"/>
            <a:ext cx="20955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Property search</a:t>
            </a:r>
          </a:p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Showing booking and conflicts</a:t>
            </a:r>
          </a:p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Lead qualification</a:t>
            </a:r>
          </a:p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Task automation</a:t>
            </a:r>
          </a:p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Role and field security</a:t>
            </a:r>
          </a:p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Mobile LWC</a:t>
            </a:r>
          </a:p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Sensitive-data refusal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0044F6-4229-41F5-9731-096472C94C51}"/>
              </a:ext>
            </a:extLst>
          </p:cNvPr>
          <p:cNvSpPr>
            <a:spLocks noGrp="1"/>
          </p:cNvSpPr>
          <p:nvPr/>
        </p:nvSpPr>
        <p:spPr>
          <a:xfrm>
            <a:off x="857250" y="542925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0">
                <a:solidFill>
                  <a:srgbClr val="BFD3E5"/>
                </a:solidFill>
              </a:defRPr>
            </a:pPr>
            <a:r>
              <a:rPr sz="750" b="0">
                <a:solidFill>
                  <a:srgbClr val="BFD3E5"/>
                </a:solidFill>
              </a:rPr>
              <a:t>Evidence uses screenshots and Pass/Fail status; Actual Result text is intentionally omitted.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312DB1-4C6E-429E-A4B3-8C0C9975C670}"/>
              </a:ext>
            </a:extLst>
          </p:cNvPr>
          <p:cNvSpPr>
            <a:spLocks noGrp="1"/>
          </p:cNvSpPr>
          <p:nvPr/>
        </p:nvSpPr>
        <p:spPr>
          <a:xfrm>
            <a:off x="3733800" y="1524000"/>
            <a:ext cx="7905750" cy="447675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74433" y="1695450"/>
            <a:ext cx="6624484" cy="3733800"/>
          </a:xfrm>
          <a:prstGeom prst="roundRect">
            <a:avLst>
              <a:gd name="adj" fmla="val 3061"/>
            </a:avLst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6339FD1-8A17-4739-9A3F-6CE3C4D42810}"/>
              </a:ext>
            </a:extLst>
          </p:cNvPr>
          <p:cNvSpPr>
            <a:spLocks noGrp="1"/>
          </p:cNvSpPr>
          <p:nvPr/>
        </p:nvSpPr>
        <p:spPr>
          <a:xfrm>
            <a:off x="4038600" y="5581650"/>
            <a:ext cx="733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63A5F"/>
                </a:solidFill>
              </a:defRPr>
            </a:pPr>
            <a:r>
              <a:rPr sz="1125" b="1">
                <a:solidFill>
                  <a:srgbClr val="163A5F"/>
                </a:solidFill>
              </a:rPr>
              <a:t>Representative evidence: grounded search, valid booking, conflict handling, and sensitive-data refusal.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4B7D59-A2D4-4340-8B93-8D0575B9BFCC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2476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191A6"/>
                </a:solidFill>
              </a:defRPr>
            </a:pPr>
            <a:r>
              <a:rPr sz="675" b="1">
                <a:solidFill>
                  <a:srgbClr val="8191A6"/>
                </a:solidFill>
              </a:rPr>
              <a:t>SMART REAL ESTATE SYSTEM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1BA371-54DE-4DEA-BCCB-ECAA98D3C18D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8191A6"/>
                </a:solidFill>
              </a:defRPr>
            </a:pPr>
            <a:r>
              <a:rPr sz="750" b="1">
                <a:solidFill>
                  <a:srgbClr val="8191A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91543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1268BAB-218E-446D-A1B1-5690E2F4960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C7C8C"/>
                </a:solidFill>
              </a:defRPr>
            </a:pPr>
            <a:r>
              <a:rPr sz="900" b="1">
                <a:solidFill>
                  <a:srgbClr val="1C7C8C"/>
                </a:solidFill>
              </a:rPr>
              <a:t>BUSINESS VALUE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99C66DE-7245-45AD-956D-CFF07E71811C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63A5F"/>
                </a:solidFill>
              </a:defRPr>
            </a:pPr>
            <a:r>
              <a:rPr sz="2700" b="1">
                <a:solidFill>
                  <a:srgbClr val="163A5F"/>
                </a:solidFill>
              </a:rPr>
              <a:t>The solution shifts effort from administration to selling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C74479-BA2E-4911-A2C8-5ADE3152B58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742950" cy="47625"/>
          </a:xfrm>
          <a:prstGeom prst="rect">
            <a:avLst/>
          </a:prstGeom>
          <a:solidFill>
            <a:srgbClr val="1C7C8C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F58280-0F88-4F12-8E3D-850F22F52621}"/>
              </a:ext>
            </a:extLst>
          </p:cNvPr>
          <p:cNvSpPr>
            <a:spLocks noGrp="1"/>
          </p:cNvSpPr>
          <p:nvPr/>
        </p:nvSpPr>
        <p:spPr>
          <a:xfrm>
            <a:off x="666750" y="16573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B42318"/>
                </a:solidFill>
              </a:defRPr>
            </a:pPr>
            <a:r>
              <a:rPr sz="975" b="1">
                <a:solidFill>
                  <a:srgbClr val="B42318"/>
                </a:solidFill>
              </a:rPr>
              <a:t>BEFORE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17E7B3-4161-4C80-9601-725771082C52}"/>
              </a:ext>
            </a:extLst>
          </p:cNvPr>
          <p:cNvSpPr>
            <a:spLocks noGrp="1"/>
          </p:cNvSpPr>
          <p:nvPr/>
        </p:nvSpPr>
        <p:spPr>
          <a:xfrm>
            <a:off x="8915400" y="16573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F8A70"/>
                </a:solidFill>
              </a:defRPr>
            </a:pPr>
            <a:r>
              <a:rPr sz="975" b="1">
                <a:solidFill>
                  <a:srgbClr val="1F8A70"/>
                </a:solidFill>
              </a:rPr>
              <a:t>AFTER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23CE381-D887-40EE-8CC9-419B33F479AD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3695700" cy="704850"/>
          </a:xfrm>
          <a:prstGeom prst="roundRect">
            <a:avLst>
              <a:gd name="adj" fmla="val 16216"/>
            </a:avLst>
          </a:prstGeom>
          <a:solidFill>
            <a:srgbClr val="FFF5F3"/>
          </a:solidFill>
          <a:ln w="9525">
            <a:solidFill>
              <a:srgbClr val="F5C2BD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43F6FB-3EF4-4E5D-AFD5-78D69A66EBB5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Manual lead review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B7BFB7-8FAC-43B4-AB40-5B01427D4854}"/>
              </a:ext>
            </a:extLst>
          </p:cNvPr>
          <p:cNvSpPr>
            <a:spLocks noGrp="1"/>
          </p:cNvSpPr>
          <p:nvPr/>
        </p:nvSpPr>
        <p:spPr>
          <a:xfrm>
            <a:off x="5657850" y="2238375"/>
            <a:ext cx="876300" cy="419100"/>
          </a:xfrm>
          <a:prstGeom prst="roundRect">
            <a:avLst>
              <a:gd name="adj" fmla="val 27273"/>
            </a:avLst>
          </a:prstGeom>
          <a:solidFill>
            <a:srgbClr val="EAF2F8"/>
          </a:solidFill>
          <a:ln w="9525">
            <a:solidFill>
              <a:srgbClr val="EAF2F8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DE7D69-C8D1-44E8-85EF-80B5C8D9FE93}"/>
              </a:ext>
            </a:extLst>
          </p:cNvPr>
          <p:cNvSpPr>
            <a:spLocks noGrp="1"/>
          </p:cNvSpPr>
          <p:nvPr/>
        </p:nvSpPr>
        <p:spPr>
          <a:xfrm>
            <a:off x="5810250" y="2190750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E74B5"/>
                </a:solidFill>
              </a:defRPr>
            </a:pPr>
            <a:r>
              <a:rPr sz="1125" b="1">
                <a:solidFill>
                  <a:srgbClr val="2E74B5"/>
                </a:solidFill>
              </a:rPr>
              <a:t>TO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C6835A-8712-4F30-871B-38B3DF244964}"/>
              </a:ext>
            </a:extLst>
          </p:cNvPr>
          <p:cNvSpPr>
            <a:spLocks noGrp="1"/>
          </p:cNvSpPr>
          <p:nvPr/>
        </p:nvSpPr>
        <p:spPr>
          <a:xfrm>
            <a:off x="7829550" y="2095500"/>
            <a:ext cx="3695700" cy="704850"/>
          </a:xfrm>
          <a:prstGeom prst="roundRect">
            <a:avLst>
              <a:gd name="adj" fmla="val 16216"/>
            </a:avLst>
          </a:prstGeom>
          <a:solidFill>
            <a:srgbClr val="F2FBF8"/>
          </a:solidFill>
          <a:ln w="9525">
            <a:solidFill>
              <a:srgbClr val="A8DCC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3769A0-2874-4912-876E-E2A70EBC323A}"/>
              </a:ext>
            </a:extLst>
          </p:cNvPr>
          <p:cNvSpPr>
            <a:spLocks noGrp="1"/>
          </p:cNvSpPr>
          <p:nvPr/>
        </p:nvSpPr>
        <p:spPr>
          <a:xfrm>
            <a:off x="8058150" y="2219325"/>
            <a:ext cx="3181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63A5F"/>
                </a:solidFill>
              </a:defRPr>
            </a:pPr>
            <a:r>
              <a:rPr sz="1350" b="1">
                <a:solidFill>
                  <a:srgbClr val="163A5F"/>
                </a:solidFill>
              </a:rPr>
              <a:t>Consistent qualification and follow-up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79923B1-E7D2-4703-B5CE-CCE24AED7B17}"/>
              </a:ext>
            </a:extLst>
          </p:cNvPr>
          <p:cNvSpPr>
            <a:spLocks noGrp="1"/>
          </p:cNvSpPr>
          <p:nvPr/>
        </p:nvSpPr>
        <p:spPr>
          <a:xfrm>
            <a:off x="666750" y="3009900"/>
            <a:ext cx="3695700" cy="704850"/>
          </a:xfrm>
          <a:prstGeom prst="roundRect">
            <a:avLst>
              <a:gd name="adj" fmla="val 16216"/>
            </a:avLst>
          </a:prstGeom>
          <a:solidFill>
            <a:srgbClr val="F5F8FC"/>
          </a:solidFill>
          <a:ln w="9525">
            <a:solidFill>
              <a:srgbClr val="F5C2BD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C5267E-01D6-417F-9A51-5AD4B9648DAE}"/>
              </a:ext>
            </a:extLst>
          </p:cNvPr>
          <p:cNvSpPr>
            <a:spLocks noGrp="1"/>
          </p:cNvSpPr>
          <p:nvPr/>
        </p:nvSpPr>
        <p:spPr>
          <a:xfrm>
            <a:off x="895350" y="32004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Repeated property checks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38B46C9-53A9-4D30-8664-B12E4E1B1B14}"/>
              </a:ext>
            </a:extLst>
          </p:cNvPr>
          <p:cNvSpPr>
            <a:spLocks noGrp="1"/>
          </p:cNvSpPr>
          <p:nvPr/>
        </p:nvSpPr>
        <p:spPr>
          <a:xfrm>
            <a:off x="5657850" y="3152775"/>
            <a:ext cx="876300" cy="419100"/>
          </a:xfrm>
          <a:prstGeom prst="roundRect">
            <a:avLst>
              <a:gd name="adj" fmla="val 27273"/>
            </a:avLst>
          </a:prstGeom>
          <a:solidFill>
            <a:srgbClr val="EAF2F8"/>
          </a:solidFill>
          <a:ln w="9525">
            <a:solidFill>
              <a:srgbClr val="EAF2F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9CAD92-AA09-4D48-AA9D-5E3FC6E4D164}"/>
              </a:ext>
            </a:extLst>
          </p:cNvPr>
          <p:cNvSpPr>
            <a:spLocks noGrp="1"/>
          </p:cNvSpPr>
          <p:nvPr/>
        </p:nvSpPr>
        <p:spPr>
          <a:xfrm>
            <a:off x="5810250" y="3105150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E74B5"/>
                </a:solidFill>
              </a:defRPr>
            </a:pPr>
            <a:r>
              <a:rPr sz="1125" b="1">
                <a:solidFill>
                  <a:srgbClr val="2E74B5"/>
                </a:solidFill>
              </a:rPr>
              <a:t>TO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F613350-77ED-4620-A769-A8F5E79D480E}"/>
              </a:ext>
            </a:extLst>
          </p:cNvPr>
          <p:cNvSpPr>
            <a:spLocks noGrp="1"/>
          </p:cNvSpPr>
          <p:nvPr/>
        </p:nvSpPr>
        <p:spPr>
          <a:xfrm>
            <a:off x="7829550" y="3009900"/>
            <a:ext cx="3695700" cy="704850"/>
          </a:xfrm>
          <a:prstGeom prst="roundRect">
            <a:avLst>
              <a:gd name="adj" fmla="val 16216"/>
            </a:avLst>
          </a:prstGeom>
          <a:solidFill>
            <a:srgbClr val="F5F8FC"/>
          </a:solidFill>
          <a:ln w="9525">
            <a:solidFill>
              <a:srgbClr val="A8DCC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C51A9B-1A30-4261-991E-EBA97BE21C93}"/>
              </a:ext>
            </a:extLst>
          </p:cNvPr>
          <p:cNvSpPr>
            <a:spLocks noGrp="1"/>
          </p:cNvSpPr>
          <p:nvPr/>
        </p:nvSpPr>
        <p:spPr>
          <a:xfrm>
            <a:off x="8058150" y="3133725"/>
            <a:ext cx="3181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63A5F"/>
                </a:solidFill>
              </a:defRPr>
            </a:pPr>
            <a:r>
              <a:rPr sz="1350" b="1">
                <a:solidFill>
                  <a:srgbClr val="163A5F"/>
                </a:solidFill>
              </a:rPr>
              <a:t>Grounded property discovery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D9101B9-D38E-4B99-8471-A3BDBFA6678D}"/>
              </a:ext>
            </a:extLst>
          </p:cNvPr>
          <p:cNvSpPr>
            <a:spLocks noGrp="1"/>
          </p:cNvSpPr>
          <p:nvPr/>
        </p:nvSpPr>
        <p:spPr>
          <a:xfrm>
            <a:off x="666750" y="3924300"/>
            <a:ext cx="3695700" cy="704850"/>
          </a:xfrm>
          <a:prstGeom prst="roundRect">
            <a:avLst>
              <a:gd name="adj" fmla="val 16216"/>
            </a:avLst>
          </a:prstGeom>
          <a:solidFill>
            <a:srgbClr val="FFF5F3"/>
          </a:solidFill>
          <a:ln w="9525">
            <a:solidFill>
              <a:srgbClr val="F5C2BD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36ED89-CEEB-45C0-A765-398FF05D6FAF}"/>
              </a:ext>
            </a:extLst>
          </p:cNvPr>
          <p:cNvSpPr>
            <a:spLocks noGrp="1"/>
          </p:cNvSpPr>
          <p:nvPr/>
        </p:nvSpPr>
        <p:spPr>
          <a:xfrm>
            <a:off x="895350" y="41148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Scheduling back-and-forth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56DE317-64FD-4118-A629-B22E110A951E}"/>
              </a:ext>
            </a:extLst>
          </p:cNvPr>
          <p:cNvSpPr>
            <a:spLocks noGrp="1"/>
          </p:cNvSpPr>
          <p:nvPr/>
        </p:nvSpPr>
        <p:spPr>
          <a:xfrm>
            <a:off x="5657850" y="4067175"/>
            <a:ext cx="876300" cy="419100"/>
          </a:xfrm>
          <a:prstGeom prst="roundRect">
            <a:avLst>
              <a:gd name="adj" fmla="val 27273"/>
            </a:avLst>
          </a:prstGeom>
          <a:solidFill>
            <a:srgbClr val="EAF2F8"/>
          </a:solidFill>
          <a:ln w="9525">
            <a:solidFill>
              <a:srgbClr val="EAF2F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C44CD1-D9DC-48CA-AA0C-34294E70BBA4}"/>
              </a:ext>
            </a:extLst>
          </p:cNvPr>
          <p:cNvSpPr>
            <a:spLocks noGrp="1"/>
          </p:cNvSpPr>
          <p:nvPr/>
        </p:nvSpPr>
        <p:spPr>
          <a:xfrm>
            <a:off x="5810250" y="4019550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E74B5"/>
                </a:solidFill>
              </a:defRPr>
            </a:pPr>
            <a:r>
              <a:rPr sz="1125" b="1">
                <a:solidFill>
                  <a:srgbClr val="2E74B5"/>
                </a:solidFill>
              </a:rPr>
              <a:t>TO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3D1E27F-A336-4AD5-8693-8DF895D7A8CB}"/>
              </a:ext>
            </a:extLst>
          </p:cNvPr>
          <p:cNvSpPr>
            <a:spLocks noGrp="1"/>
          </p:cNvSpPr>
          <p:nvPr/>
        </p:nvSpPr>
        <p:spPr>
          <a:xfrm>
            <a:off x="7829550" y="3924300"/>
            <a:ext cx="3695700" cy="704850"/>
          </a:xfrm>
          <a:prstGeom prst="roundRect">
            <a:avLst>
              <a:gd name="adj" fmla="val 16216"/>
            </a:avLst>
          </a:prstGeom>
          <a:solidFill>
            <a:srgbClr val="F2FBF8"/>
          </a:solidFill>
          <a:ln w="9525">
            <a:solidFill>
              <a:srgbClr val="A8DCCB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800795-3F90-4928-9E12-A004EBA43332}"/>
              </a:ext>
            </a:extLst>
          </p:cNvPr>
          <p:cNvSpPr>
            <a:spLocks noGrp="1"/>
          </p:cNvSpPr>
          <p:nvPr/>
        </p:nvSpPr>
        <p:spPr>
          <a:xfrm>
            <a:off x="8058150" y="4048125"/>
            <a:ext cx="3181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63A5F"/>
                </a:solidFill>
              </a:defRPr>
            </a:pPr>
            <a:r>
              <a:rPr sz="1350" b="1">
                <a:solidFill>
                  <a:srgbClr val="163A5F"/>
                </a:solidFill>
              </a:rPr>
              <a:t>Guided booking with confirmation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20DDF48-19DC-46CD-BF14-844A8A0AA858}"/>
              </a:ext>
            </a:extLst>
          </p:cNvPr>
          <p:cNvSpPr>
            <a:spLocks noGrp="1"/>
          </p:cNvSpPr>
          <p:nvPr/>
        </p:nvSpPr>
        <p:spPr>
          <a:xfrm>
            <a:off x="666750" y="4838700"/>
            <a:ext cx="3695700" cy="704850"/>
          </a:xfrm>
          <a:prstGeom prst="roundRect">
            <a:avLst>
              <a:gd name="adj" fmla="val 16216"/>
            </a:avLst>
          </a:prstGeom>
          <a:solidFill>
            <a:srgbClr val="F5F8FC"/>
          </a:solidFill>
          <a:ln w="9525">
            <a:solidFill>
              <a:srgbClr val="F5C2BD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1F8269-4999-475C-8DDA-354E36B0DFCF}"/>
              </a:ext>
            </a:extLst>
          </p:cNvPr>
          <p:cNvSpPr>
            <a:spLocks noGrp="1"/>
          </p:cNvSpPr>
          <p:nvPr/>
        </p:nvSpPr>
        <p:spPr>
          <a:xfrm>
            <a:off x="895350" y="50292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Fragmented management view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E833E6D-A6B1-4D07-8E20-5DC1BEAF52AA}"/>
              </a:ext>
            </a:extLst>
          </p:cNvPr>
          <p:cNvSpPr>
            <a:spLocks noGrp="1"/>
          </p:cNvSpPr>
          <p:nvPr/>
        </p:nvSpPr>
        <p:spPr>
          <a:xfrm>
            <a:off x="5657850" y="4981575"/>
            <a:ext cx="876300" cy="419100"/>
          </a:xfrm>
          <a:prstGeom prst="roundRect">
            <a:avLst>
              <a:gd name="adj" fmla="val 27273"/>
            </a:avLst>
          </a:prstGeom>
          <a:solidFill>
            <a:srgbClr val="EAF2F8"/>
          </a:solidFill>
          <a:ln w="9525">
            <a:solidFill>
              <a:srgbClr val="EAF2F8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CAA5A5-E4B8-4FB1-A586-6C23B765742D}"/>
              </a:ext>
            </a:extLst>
          </p:cNvPr>
          <p:cNvSpPr>
            <a:spLocks noGrp="1"/>
          </p:cNvSpPr>
          <p:nvPr/>
        </p:nvSpPr>
        <p:spPr>
          <a:xfrm>
            <a:off x="5810250" y="4933950"/>
            <a:ext cx="628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E74B5"/>
                </a:solidFill>
              </a:defRPr>
            </a:pPr>
            <a:r>
              <a:rPr sz="1125" b="1">
                <a:solidFill>
                  <a:srgbClr val="2E74B5"/>
                </a:solidFill>
              </a:rPr>
              <a:t>TO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ACDF917-62C3-4B2B-AFEE-BE7656FA4EBE}"/>
              </a:ext>
            </a:extLst>
          </p:cNvPr>
          <p:cNvSpPr>
            <a:spLocks noGrp="1"/>
          </p:cNvSpPr>
          <p:nvPr/>
        </p:nvSpPr>
        <p:spPr>
          <a:xfrm>
            <a:off x="7829550" y="4838700"/>
            <a:ext cx="3695700" cy="704850"/>
          </a:xfrm>
          <a:prstGeom prst="roundRect">
            <a:avLst>
              <a:gd name="adj" fmla="val 16216"/>
            </a:avLst>
          </a:prstGeom>
          <a:solidFill>
            <a:srgbClr val="F5F8FC"/>
          </a:solidFill>
          <a:ln w="9525">
            <a:solidFill>
              <a:srgbClr val="A8DCCB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467399-B407-4692-BA4D-49E53C161A34}"/>
              </a:ext>
            </a:extLst>
          </p:cNvPr>
          <p:cNvSpPr>
            <a:spLocks noGrp="1"/>
          </p:cNvSpPr>
          <p:nvPr/>
        </p:nvSpPr>
        <p:spPr>
          <a:xfrm>
            <a:off x="8058150" y="4962525"/>
            <a:ext cx="3181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163A5F"/>
                </a:solidFill>
              </a:defRPr>
            </a:pPr>
            <a:r>
              <a:rPr sz="1350" b="1">
                <a:solidFill>
                  <a:srgbClr val="163A5F"/>
                </a:solidFill>
              </a:rPr>
              <a:t>Centralized operational dashboard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07356D0-04D0-421D-A2B3-E28745AA2FAF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10858500" cy="361950"/>
          </a:xfrm>
          <a:prstGeom prst="roundRect">
            <a:avLst>
              <a:gd name="adj" fmla="val 31579"/>
            </a:avLst>
          </a:prstGeom>
          <a:solidFill>
            <a:srgbClr val="163A5F"/>
          </a:solidFill>
          <a:ln w="9525">
            <a:solidFill>
              <a:srgbClr val="163A5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5FBE5F5-13D4-41CE-887B-E630310BB709}"/>
              </a:ext>
            </a:extLst>
          </p:cNvPr>
          <p:cNvSpPr>
            <a:spLocks noGrp="1"/>
          </p:cNvSpPr>
          <p:nvPr/>
        </p:nvSpPr>
        <p:spPr>
          <a:xfrm>
            <a:off x="1009650" y="5972175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Business outcome: faster, more consistent pre-sale operations with auditable human oversight.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293FC6C-3619-476A-89AB-067EA4E5E8E1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2476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191A6"/>
                </a:solidFill>
              </a:defRPr>
            </a:pPr>
            <a:r>
              <a:rPr sz="675" b="1">
                <a:solidFill>
                  <a:srgbClr val="8191A6"/>
                </a:solidFill>
              </a:rPr>
              <a:t>SMART REAL ESTATE SYSTEM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2A27CF-51CE-4DB4-B33B-FCE3BB3204DF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8191A6"/>
                </a:solidFill>
              </a:defRPr>
            </a:pPr>
            <a:r>
              <a:rPr sz="750" b="1">
                <a:solidFill>
                  <a:srgbClr val="8191A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26011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9AFBEAD-15D6-49D0-B54D-BE7B63AC39C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1C7C8C"/>
                </a:solidFill>
              </a:defRPr>
            </a:pPr>
            <a:r>
              <a:rPr sz="900" b="1">
                <a:solidFill>
                  <a:srgbClr val="1C7C8C"/>
                </a:solidFill>
              </a:rPr>
              <a:t>FUTURE ENHANCEMENTS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2691B8D-442C-4DA9-A147-45DA01CD0A96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63A5F"/>
                </a:solidFill>
              </a:defRPr>
            </a:pPr>
            <a:r>
              <a:rPr sz="2700" b="1">
                <a:solidFill>
                  <a:srgbClr val="163A5F"/>
                </a:solidFill>
              </a:rPr>
              <a:t>Production hardening comes before broader scale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881D69-F604-403C-A9FA-0772F1763B7B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742950" cy="47625"/>
          </a:xfrm>
          <a:prstGeom prst="rect">
            <a:avLst/>
          </a:prstGeom>
          <a:solidFill>
            <a:srgbClr val="1C7C8C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D0EB2F1-B823-47EB-BB83-F944B0D4A5C1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5334000" cy="1123950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29FC18B-89B6-474C-8BAC-EFF46C6D15AB}"/>
              </a:ext>
            </a:extLst>
          </p:cNvPr>
          <p:cNvSpPr>
            <a:spLocks noGrp="1"/>
          </p:cNvSpPr>
          <p:nvPr/>
        </p:nvSpPr>
        <p:spPr>
          <a:xfrm>
            <a:off x="838200" y="18288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1C01D2-C640-4807-A0FD-751522BA5ACF}"/>
              </a:ext>
            </a:extLst>
          </p:cNvPr>
          <p:cNvSpPr>
            <a:spLocks noGrp="1"/>
          </p:cNvSpPr>
          <p:nvPr/>
        </p:nvSpPr>
        <p:spPr>
          <a:xfrm>
            <a:off x="914400" y="1914525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E0AF63-5077-4934-B221-64B6952E05B9}"/>
              </a:ext>
            </a:extLst>
          </p:cNvPr>
          <p:cNvSpPr>
            <a:spLocks noGrp="1"/>
          </p:cNvSpPr>
          <p:nvPr/>
        </p:nvSpPr>
        <p:spPr>
          <a:xfrm>
            <a:off x="1466850" y="17907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63A5F"/>
                </a:solidFill>
              </a:defRPr>
            </a:pPr>
            <a:r>
              <a:rPr sz="1425" b="1">
                <a:solidFill>
                  <a:srgbClr val="163A5F"/>
                </a:solidFill>
              </a:rPr>
              <a:t>Complete query filtering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BA3D0-F97B-433F-A607-75F3B6CE2907}"/>
              </a:ext>
            </a:extLst>
          </p:cNvPr>
          <p:cNvSpPr>
            <a:spLocks noGrp="1"/>
          </p:cNvSpPr>
          <p:nvPr/>
        </p:nvSpPr>
        <p:spPr>
          <a:xfrm>
            <a:off x="1466850" y="2095500"/>
            <a:ext cx="4095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Apply city, budget, bedroom, and property-type inputs directly in Search Available Properties.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4EFE73C-2AB7-453D-8F64-E09516BF66EC}"/>
              </a:ext>
            </a:extLst>
          </p:cNvPr>
          <p:cNvSpPr>
            <a:spLocks noGrp="1"/>
          </p:cNvSpPr>
          <p:nvPr/>
        </p:nvSpPr>
        <p:spPr>
          <a:xfrm>
            <a:off x="628650" y="2971800"/>
            <a:ext cx="5334000" cy="1123950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37182E8-D6BA-43EC-B039-1C9D4AF62FF2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C7C8C"/>
          </a:solidFill>
          <a:ln w="9525">
            <a:solidFill>
              <a:srgbClr val="1C7C8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83BAD7-0AFC-4CC3-A149-E63A8E70623D}"/>
              </a:ext>
            </a:extLst>
          </p:cNvPr>
          <p:cNvSpPr>
            <a:spLocks noGrp="1"/>
          </p:cNvSpPr>
          <p:nvPr/>
        </p:nvSpPr>
        <p:spPr>
          <a:xfrm>
            <a:off x="914400" y="3267075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EE0A79-9577-4D28-A316-FEBA19DE6F0E}"/>
              </a:ext>
            </a:extLst>
          </p:cNvPr>
          <p:cNvSpPr>
            <a:spLocks noGrp="1"/>
          </p:cNvSpPr>
          <p:nvPr/>
        </p:nvSpPr>
        <p:spPr>
          <a:xfrm>
            <a:off x="1466850" y="31432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63A5F"/>
                </a:solidFill>
              </a:defRPr>
            </a:pPr>
            <a:r>
              <a:rPr sz="1425" b="1">
                <a:solidFill>
                  <a:srgbClr val="163A5F"/>
                </a:solidFill>
              </a:rPr>
              <a:t>Strengthen output contracts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FA1766-8C6C-44ED-BD87-34B7225CE974}"/>
              </a:ext>
            </a:extLst>
          </p:cNvPr>
          <p:cNvSpPr>
            <a:spLocks noGrp="1"/>
          </p:cNvSpPr>
          <p:nvPr/>
        </p:nvSpPr>
        <p:spPr>
          <a:xfrm>
            <a:off x="1466850" y="3448050"/>
            <a:ext cx="4095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Populate success and message consistently across every Agentforce-facing flow.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5FD4816-888B-431B-809B-08818F21B27B}"/>
              </a:ext>
            </a:extLst>
          </p:cNvPr>
          <p:cNvSpPr>
            <a:spLocks noGrp="1"/>
          </p:cNvSpPr>
          <p:nvPr/>
        </p:nvSpPr>
        <p:spPr>
          <a:xfrm>
            <a:off x="628650" y="4324350"/>
            <a:ext cx="5334000" cy="1123950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7F3263C-8EA7-4BF1-9E15-217E1AA8C242}"/>
              </a:ext>
            </a:extLst>
          </p:cNvPr>
          <p:cNvSpPr>
            <a:spLocks noGrp="1"/>
          </p:cNvSpPr>
          <p:nvPr/>
        </p:nvSpPr>
        <p:spPr>
          <a:xfrm>
            <a:off x="838200" y="45339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5C2CAD-DAC6-47DB-8FD5-3E16D24BF719}"/>
              </a:ext>
            </a:extLst>
          </p:cNvPr>
          <p:cNvSpPr>
            <a:spLocks noGrp="1"/>
          </p:cNvSpPr>
          <p:nvPr/>
        </p:nvSpPr>
        <p:spPr>
          <a:xfrm>
            <a:off x="914400" y="4619625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1881D2-CF06-4061-A677-92009F7BB1DC}"/>
              </a:ext>
            </a:extLst>
          </p:cNvPr>
          <p:cNvSpPr>
            <a:spLocks noGrp="1"/>
          </p:cNvSpPr>
          <p:nvPr/>
        </p:nvSpPr>
        <p:spPr>
          <a:xfrm>
            <a:off x="1466850" y="44958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63A5F"/>
                </a:solidFill>
              </a:defRPr>
            </a:pPr>
            <a:r>
              <a:rPr sz="1425" b="1">
                <a:solidFill>
                  <a:srgbClr val="163A5F"/>
                </a:solidFill>
              </a:rPr>
              <a:t>Add technical fault paths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F2E96E-17FE-446A-9074-2242C851D3A4}"/>
              </a:ext>
            </a:extLst>
          </p:cNvPr>
          <p:cNvSpPr>
            <a:spLocks noGrp="1"/>
          </p:cNvSpPr>
          <p:nvPr/>
        </p:nvSpPr>
        <p:spPr>
          <a:xfrm>
            <a:off x="1466850" y="4800600"/>
            <a:ext cx="4095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Use Fault Connectors for unexpected query, DML, and platform failures.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24A26C8-61E4-42C3-BDCE-A222A24FC9D4}"/>
              </a:ext>
            </a:extLst>
          </p:cNvPr>
          <p:cNvSpPr>
            <a:spLocks noGrp="1"/>
          </p:cNvSpPr>
          <p:nvPr/>
        </p:nvSpPr>
        <p:spPr>
          <a:xfrm>
            <a:off x="6229350" y="2286000"/>
            <a:ext cx="5334000" cy="140970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E52CA5F-0846-4B40-A2B4-A3E4BB96BD15}"/>
              </a:ext>
            </a:extLst>
          </p:cNvPr>
          <p:cNvSpPr>
            <a:spLocks noGrp="1"/>
          </p:cNvSpPr>
          <p:nvPr/>
        </p:nvSpPr>
        <p:spPr>
          <a:xfrm>
            <a:off x="6438900" y="24955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C7C8C"/>
          </a:solidFill>
          <a:ln w="9525">
            <a:solidFill>
              <a:srgbClr val="1C7C8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6BBBE8-A574-41AD-B47B-6A6D1E880B1E}"/>
              </a:ext>
            </a:extLst>
          </p:cNvPr>
          <p:cNvSpPr>
            <a:spLocks noGrp="1"/>
          </p:cNvSpPr>
          <p:nvPr/>
        </p:nvSpPr>
        <p:spPr>
          <a:xfrm>
            <a:off x="6515100" y="2581275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21946C-A177-4A98-9319-6121D37C5E63}"/>
              </a:ext>
            </a:extLst>
          </p:cNvPr>
          <p:cNvSpPr>
            <a:spLocks noGrp="1"/>
          </p:cNvSpPr>
          <p:nvPr/>
        </p:nvSpPr>
        <p:spPr>
          <a:xfrm>
            <a:off x="7067550" y="24574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63A5F"/>
                </a:solidFill>
              </a:defRPr>
            </a:pPr>
            <a:r>
              <a:rPr sz="1425" b="1">
                <a:solidFill>
                  <a:srgbClr val="163A5F"/>
                </a:solidFill>
              </a:rPr>
              <a:t>Tighten execution context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CEBC5C-9C87-4D6D-85A6-A6D6FC2A19DF}"/>
              </a:ext>
            </a:extLst>
          </p:cNvPr>
          <p:cNvSpPr>
            <a:spLocks noGrp="1"/>
          </p:cNvSpPr>
          <p:nvPr/>
        </p:nvSpPr>
        <p:spPr>
          <a:xfrm>
            <a:off x="7067550" y="2762250"/>
            <a:ext cx="4095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Review sharing mode, permission enforcement, and audit logging for production deployment.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92B12E6-AF98-49E3-901E-3A92F18B19CB}"/>
              </a:ext>
            </a:extLst>
          </p:cNvPr>
          <p:cNvSpPr>
            <a:spLocks noGrp="1"/>
          </p:cNvSpPr>
          <p:nvPr/>
        </p:nvSpPr>
        <p:spPr>
          <a:xfrm>
            <a:off x="6229350" y="3943350"/>
            <a:ext cx="5334000" cy="140970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974F825-ABA7-4910-A32F-F7393E2F3CF0}"/>
              </a:ext>
            </a:extLst>
          </p:cNvPr>
          <p:cNvSpPr>
            <a:spLocks noGrp="1"/>
          </p:cNvSpPr>
          <p:nvPr/>
        </p:nvSpPr>
        <p:spPr>
          <a:xfrm>
            <a:off x="6438900" y="41529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 w="9525">
            <a:solidFill>
              <a:srgbClr val="2E74B5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6A7AE7-82BB-4EE9-A333-7CA465ECD1C7}"/>
              </a:ext>
            </a:extLst>
          </p:cNvPr>
          <p:cNvSpPr>
            <a:spLocks noGrp="1"/>
          </p:cNvSpPr>
          <p:nvPr/>
        </p:nvSpPr>
        <p:spPr>
          <a:xfrm>
            <a:off x="6515100" y="4238625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EDAE08-141A-4958-9877-BB6C693FD69C}"/>
              </a:ext>
            </a:extLst>
          </p:cNvPr>
          <p:cNvSpPr>
            <a:spLocks noGrp="1"/>
          </p:cNvSpPr>
          <p:nvPr/>
        </p:nvSpPr>
        <p:spPr>
          <a:xfrm>
            <a:off x="7067550" y="41148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163A5F"/>
                </a:solidFill>
              </a:defRPr>
            </a:pPr>
            <a:r>
              <a:rPr sz="1425" b="1">
                <a:solidFill>
                  <a:srgbClr val="163A5F"/>
                </a:solidFill>
              </a:rPr>
              <a:t>Expand channels and insight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4338B7-0DC9-42A6-9D65-14F82B3D7519}"/>
              </a:ext>
            </a:extLst>
          </p:cNvPr>
          <p:cNvSpPr>
            <a:spLocks noGrp="1"/>
          </p:cNvSpPr>
          <p:nvPr/>
        </p:nvSpPr>
        <p:spPr>
          <a:xfrm>
            <a:off x="7067550" y="4419600"/>
            <a:ext cx="4095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Add a customer portal or chatbot, notifications, and measured service KPIs.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6F141F-35C1-4933-A33F-81AA2E320141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2476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8191A6"/>
                </a:solidFill>
              </a:defRPr>
            </a:pPr>
            <a:r>
              <a:rPr sz="675" b="1">
                <a:solidFill>
                  <a:srgbClr val="8191A6"/>
                </a:solidFill>
              </a:rPr>
              <a:t>SMART REAL ESTATE SYSTEM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2D06C90-D0A0-4D5D-A147-B2EDA047F6DB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8191A6"/>
                </a:solidFill>
              </a:defRPr>
            </a:pPr>
            <a:r>
              <a:rPr sz="750" b="1">
                <a:solidFill>
                  <a:srgbClr val="8191A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43363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84035B8-3B24-4E11-B19F-FBB8699F2C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3A5F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C6AE05-EBF0-41E4-99BE-AB2728258B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C7C8C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B98B86-9A20-4A3F-AC37-A41C6D8C4376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9ED8E1"/>
                </a:solidFill>
              </a:defRPr>
            </a:pPr>
            <a:r>
              <a:rPr sz="975" b="1">
                <a:solidFill>
                  <a:srgbClr val="9ED8E1"/>
                </a:solidFill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39A6DB-12AC-4B69-B00F-63DCCBD6603C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Built, governed, tested, and extensible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1485B-0DA4-40BA-97A3-7B37F7405AB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857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0">
                <a:solidFill>
                  <a:srgbClr val="BFD3E5"/>
                </a:solidFill>
              </a:defRPr>
            </a:pPr>
            <a:r>
              <a:rPr sz="1500" b="0">
                <a:solidFill>
                  <a:srgbClr val="BFD3E5"/>
                </a:solidFill>
              </a:rPr>
              <a:t>The Smart Real Estate System demonstrates a coherent Salesforce implementation rather than isolated features.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B40B99F-8585-451A-9B67-935B7AF54062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4953000" cy="1066800"/>
          </a:xfrm>
          <a:prstGeom prst="roundRect">
            <a:avLst>
              <a:gd name="adj" fmla="val 14286"/>
            </a:avLst>
          </a:prstGeom>
          <a:solidFill>
            <a:srgbClr val="0E2D4B"/>
          </a:solidFill>
          <a:ln w="9525">
            <a:solidFill>
              <a:srgbClr val="315776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2D5F67-95E3-42B8-A4BE-CA0CEC86B115}"/>
              </a:ext>
            </a:extLst>
          </p:cNvPr>
          <p:cNvSpPr>
            <a:spLocks noGrp="1"/>
          </p:cNvSpPr>
          <p:nvPr/>
        </p:nvSpPr>
        <p:spPr>
          <a:xfrm>
            <a:off x="914400" y="29908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7FE0C3"/>
                </a:solidFill>
              </a:defRPr>
            </a:pPr>
            <a:r>
              <a:rPr sz="1125" b="1">
                <a:solidFill>
                  <a:srgbClr val="7FE0C3"/>
                </a:solidFill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0F693B-B0AD-4428-8678-CCD2F11BA5A4}"/>
              </a:ext>
            </a:extLst>
          </p:cNvPr>
          <p:cNvSpPr>
            <a:spLocks noGrp="1"/>
          </p:cNvSpPr>
          <p:nvPr/>
        </p:nvSpPr>
        <p:spPr>
          <a:xfrm>
            <a:off x="1409700" y="295275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Connected CRM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AA4BE4-2CEA-4C5D-BB8F-6FB173F5D6B2}"/>
              </a:ext>
            </a:extLst>
          </p:cNvPr>
          <p:cNvSpPr>
            <a:spLocks noGrp="1"/>
          </p:cNvSpPr>
          <p:nvPr/>
        </p:nvSpPr>
        <p:spPr>
          <a:xfrm>
            <a:off x="1409700" y="3267075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BFD3E5"/>
                </a:solidFill>
              </a:defRPr>
            </a:pPr>
            <a:r>
              <a:rPr sz="1050" b="0">
                <a:solidFill>
                  <a:srgbClr val="BFD3E5"/>
                </a:solidFill>
              </a:rPr>
              <a:t>Lead, Property, Showing, Offer, Task, and User records support one process.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7581F9A-CB98-4168-8529-F875D1C25619}"/>
              </a:ext>
            </a:extLst>
          </p:cNvPr>
          <p:cNvSpPr>
            <a:spLocks noGrp="1"/>
          </p:cNvSpPr>
          <p:nvPr/>
        </p:nvSpPr>
        <p:spPr>
          <a:xfrm>
            <a:off x="6267450" y="2781300"/>
            <a:ext cx="4953000" cy="1066800"/>
          </a:xfrm>
          <a:prstGeom prst="roundRect">
            <a:avLst>
              <a:gd name="adj" fmla="val 14286"/>
            </a:avLst>
          </a:prstGeom>
          <a:solidFill>
            <a:srgbClr val="0E2D4B"/>
          </a:solidFill>
          <a:ln w="9525">
            <a:solidFill>
              <a:srgbClr val="31577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9B8658-4F6A-4CAB-8ABC-F46BCBC689A1}"/>
              </a:ext>
            </a:extLst>
          </p:cNvPr>
          <p:cNvSpPr>
            <a:spLocks noGrp="1"/>
          </p:cNvSpPr>
          <p:nvPr/>
        </p:nvSpPr>
        <p:spPr>
          <a:xfrm>
            <a:off x="6496050" y="29908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7FE0C3"/>
                </a:solidFill>
              </a:defRPr>
            </a:pPr>
            <a:r>
              <a:rPr sz="1125" b="1">
                <a:solidFill>
                  <a:srgbClr val="7FE0C3"/>
                </a:solidFill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54D736-E278-4FDB-8F6D-D3EDFE85D63A}"/>
              </a:ext>
            </a:extLst>
          </p:cNvPr>
          <p:cNvSpPr>
            <a:spLocks noGrp="1"/>
          </p:cNvSpPr>
          <p:nvPr/>
        </p:nvSpPr>
        <p:spPr>
          <a:xfrm>
            <a:off x="6991350" y="295275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Governed Agentforce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C68BF5-C9A7-4854-9916-D670876A08D3}"/>
              </a:ext>
            </a:extLst>
          </p:cNvPr>
          <p:cNvSpPr>
            <a:spLocks noGrp="1"/>
          </p:cNvSpPr>
          <p:nvPr/>
        </p:nvSpPr>
        <p:spPr>
          <a:xfrm>
            <a:off x="6991350" y="3267075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BFD3E5"/>
                </a:solidFill>
              </a:defRPr>
            </a:pPr>
            <a:r>
              <a:rPr sz="1050" b="0">
                <a:solidFill>
                  <a:srgbClr val="BFD3E5"/>
                </a:solidFill>
              </a:rPr>
              <a:t>Narrow topics and Salesforce-backed actions keep responses grounded.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854FA42-5D10-4CE3-86EB-E5EE00BA254D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4953000" cy="1066800"/>
          </a:xfrm>
          <a:prstGeom prst="roundRect">
            <a:avLst>
              <a:gd name="adj" fmla="val 14286"/>
            </a:avLst>
          </a:prstGeom>
          <a:solidFill>
            <a:srgbClr val="0E2D4B"/>
          </a:solidFill>
          <a:ln w="9525">
            <a:solidFill>
              <a:srgbClr val="315776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AA1CB0-33DB-4587-9732-2D6F09586970}"/>
              </a:ext>
            </a:extLst>
          </p:cNvPr>
          <p:cNvSpPr>
            <a:spLocks noGrp="1"/>
          </p:cNvSpPr>
          <p:nvPr/>
        </p:nvSpPr>
        <p:spPr>
          <a:xfrm>
            <a:off x="914400" y="43434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7FE0C3"/>
                </a:solidFill>
              </a:defRPr>
            </a:pPr>
            <a:r>
              <a:rPr sz="1125" b="1">
                <a:solidFill>
                  <a:srgbClr val="7FE0C3"/>
                </a:solidFill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809314-38AF-4F8A-9204-F2E1A78DEA08}"/>
              </a:ext>
            </a:extLst>
          </p:cNvPr>
          <p:cNvSpPr>
            <a:spLocks noGrp="1"/>
          </p:cNvSpPr>
          <p:nvPr/>
        </p:nvSpPr>
        <p:spPr>
          <a:xfrm>
            <a:off x="1409700" y="43053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Automated operations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8FD768-D907-4A3C-AAAA-2D519803C424}"/>
              </a:ext>
            </a:extLst>
          </p:cNvPr>
          <p:cNvSpPr>
            <a:spLocks noGrp="1"/>
          </p:cNvSpPr>
          <p:nvPr/>
        </p:nvSpPr>
        <p:spPr>
          <a:xfrm>
            <a:off x="1409700" y="4619625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BFD3E5"/>
                </a:solidFill>
              </a:defRPr>
            </a:pPr>
            <a:r>
              <a:rPr sz="1050" b="0">
                <a:solidFill>
                  <a:srgbClr val="BFD3E5"/>
                </a:solidFill>
              </a:rPr>
              <a:t>Flows qualify leads, find properties, check conflicts, and create showings.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F05EED4-C572-414C-99EC-63EF3C26248F}"/>
              </a:ext>
            </a:extLst>
          </p:cNvPr>
          <p:cNvSpPr>
            <a:spLocks noGrp="1"/>
          </p:cNvSpPr>
          <p:nvPr/>
        </p:nvSpPr>
        <p:spPr>
          <a:xfrm>
            <a:off x="6267450" y="4133850"/>
            <a:ext cx="4953000" cy="1066800"/>
          </a:xfrm>
          <a:prstGeom prst="roundRect">
            <a:avLst>
              <a:gd name="adj" fmla="val 14286"/>
            </a:avLst>
          </a:prstGeom>
          <a:solidFill>
            <a:srgbClr val="0E2D4B"/>
          </a:solidFill>
          <a:ln w="9525">
            <a:solidFill>
              <a:srgbClr val="315776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9F0DBC-C034-43CC-A97A-E2D9251C4BE7}"/>
              </a:ext>
            </a:extLst>
          </p:cNvPr>
          <p:cNvSpPr>
            <a:spLocks noGrp="1"/>
          </p:cNvSpPr>
          <p:nvPr/>
        </p:nvSpPr>
        <p:spPr>
          <a:xfrm>
            <a:off x="6496050" y="43434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7FE0C3"/>
                </a:solidFill>
              </a:defRPr>
            </a:pPr>
            <a:r>
              <a:rPr sz="1125" b="1">
                <a:solidFill>
                  <a:srgbClr val="7FE0C3"/>
                </a:solidFill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9237BB-7947-4ED9-9D16-7679730C21A5}"/>
              </a:ext>
            </a:extLst>
          </p:cNvPr>
          <p:cNvSpPr>
            <a:spLocks noGrp="1"/>
          </p:cNvSpPr>
          <p:nvPr/>
        </p:nvSpPr>
        <p:spPr>
          <a:xfrm>
            <a:off x="6991350" y="43053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Verified experience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4F8FA7-74CA-4DA2-B5BB-8380F9993CD0}"/>
              </a:ext>
            </a:extLst>
          </p:cNvPr>
          <p:cNvSpPr>
            <a:spLocks noGrp="1"/>
          </p:cNvSpPr>
          <p:nvPr/>
        </p:nvSpPr>
        <p:spPr>
          <a:xfrm>
            <a:off x="6991350" y="4619625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>
                <a:solidFill>
                  <a:srgbClr val="BFD3E5"/>
                </a:solidFill>
              </a:defRPr>
            </a:pPr>
            <a:r>
              <a:rPr sz="1050" b="0">
                <a:solidFill>
                  <a:srgbClr val="BFD3E5"/>
                </a:solidFill>
              </a:rPr>
              <a:t>Thirteen documented test cases passed across functional and security scenarios.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A1ACD5-5122-43A8-908A-A63E723D2932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3913C4-E29B-4105-90FE-3CA1E2965A62}"/>
              </a:ext>
            </a:extLst>
          </p:cNvPr>
          <p:cNvSpPr>
            <a:spLocks noGrp="1"/>
          </p:cNvSpPr>
          <p:nvPr/>
        </p:nvSpPr>
        <p:spPr>
          <a:xfrm>
            <a:off x="685800" y="617220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>
                <a:solidFill>
                  <a:srgbClr val="9ED8E1"/>
                </a:solidFill>
              </a:defRPr>
            </a:pPr>
            <a:r>
              <a:rPr sz="1125" b="0">
                <a:solidFill>
                  <a:srgbClr val="9ED8E1"/>
                </a:solidFill>
              </a:rPr>
              <a:t>Questions and discussion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52C127-6383-4CB0-89D8-14EB616DF698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2476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DCEAF6"/>
                </a:solidFill>
              </a:defRPr>
            </a:pPr>
            <a:r>
              <a:rPr sz="675" b="1">
                <a:solidFill>
                  <a:srgbClr val="DCEAF6"/>
                </a:solidFill>
              </a:rPr>
              <a:t>SMART REAL ESTATE SYSTEM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5AAF82-DFA9-44EF-9A58-3924097A7876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DCEAF6"/>
                </a:solidFill>
              </a:defRPr>
            </a:pPr>
            <a:r>
              <a:rPr sz="750" b="1">
                <a:solidFill>
                  <a:srgbClr val="DCEAF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307332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1461</Words>
  <Application>Microsoft Office PowerPoint</Application>
  <DocSecurity>0</DocSecurity>
  <PresentationFormat>Widescreen</PresentationFormat>
  <Paragraphs>280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عبدالعزيز حربوش ID 446104631</cp:lastModifiedBy>
  <cp:revision>1</cp:revision>
  <dcterms:created xsi:type="dcterms:W3CDTF">2026-08-28T10:35:05Z</dcterms:created>
  <dcterms:modified xsi:type="dcterms:W3CDTF">2026-08-28T16:58:22Z</dcterms:modified>
</cp:coreProperties>
</file>